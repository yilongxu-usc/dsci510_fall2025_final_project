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72" r:id="rId3"/>
    <p:sldId id="257" r:id="rId4"/>
    <p:sldId id="258" r:id="rId5"/>
    <p:sldId id="259" r:id="rId6"/>
    <p:sldId id="261" r:id="rId7"/>
    <p:sldId id="264" r:id="rId8"/>
    <p:sldId id="265" r:id="rId9"/>
    <p:sldId id="266" r:id="rId10"/>
    <p:sldId id="267" r:id="rId11"/>
    <p:sldId id="269" r:id="rId12"/>
    <p:sldId id="270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2127" autoAdjust="0"/>
  </p:normalViewPr>
  <p:slideViewPr>
    <p:cSldViewPr snapToGrid="0">
      <p:cViewPr varScale="1">
        <p:scale>
          <a:sx n="90" d="100"/>
          <a:sy n="90" d="100"/>
        </p:scale>
        <p:origin x="13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CF2B7B-EB9E-45D2-BD9E-75F14DE39450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315603-6302-462E-8E91-DFD805EE574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25384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315603-6302-462E-8E91-DFD805EE5743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33855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/>
              <a:t>California (CA): mild positive relationship, warmer years slightly increase corn yield.</a:t>
            </a:r>
          </a:p>
          <a:p>
            <a:r>
              <a:rPr lang="en-US" altLang="zh-CN" b="1" dirty="0"/>
              <a:t>Illinois (IL): weak or flat </a:t>
            </a:r>
            <a:r>
              <a:rPr lang="en-US" altLang="zh-CN" b="1" dirty="0" err="1"/>
              <a:t>trend,ideal</a:t>
            </a:r>
            <a:r>
              <a:rPr lang="en-US" altLang="zh-CN" b="1" dirty="0"/>
              <a:t> corn-growing climate makes yield less sensitive.</a:t>
            </a:r>
          </a:p>
          <a:p>
            <a:r>
              <a:rPr lang="en-US" altLang="zh-CN" b="1" dirty="0"/>
              <a:t>New York (NY): weak/slightly negative, temperature swings may hurt yield.</a:t>
            </a:r>
          </a:p>
          <a:p>
            <a:r>
              <a:rPr lang="en-US" altLang="zh-CN" b="1" dirty="0"/>
              <a:t>Texas (TX): </a:t>
            </a:r>
            <a:r>
              <a:rPr lang="en-US" altLang="zh-CN" b="1" i="1" dirty="0"/>
              <a:t>very weak</a:t>
            </a:r>
            <a:r>
              <a:rPr lang="en-US" altLang="zh-CN" b="1" dirty="0"/>
              <a:t> correlation, extreme heat does NOT help and may limit production.</a:t>
            </a:r>
          </a:p>
          <a:p>
            <a:r>
              <a:rPr lang="en-US" altLang="zh-CN" b="1" dirty="0"/>
              <a:t>Utah (UT): moderate positive trend, yield increases in warmer years.</a:t>
            </a:r>
          </a:p>
          <a:p>
            <a:endParaRPr lang="zh-CN" altLang="en-US" b="1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315603-6302-462E-8E91-DFD805EE5743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52544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C9870-783B-30A2-F13D-4F0A2862C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3FD2DDE-E5B1-4B51-3D06-78579C197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F65DEAC-6ABE-BB0D-30A0-D5DDACE04D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/>
              <a:t>CA, UT and TX: negative slop, hotter years reduce wheat yield</a:t>
            </a:r>
          </a:p>
          <a:p>
            <a:r>
              <a:rPr lang="en-US" altLang="zh-CN" b="1" dirty="0"/>
              <a:t>IL and NY: positive slope, warmer years increase wheat yield</a:t>
            </a:r>
          </a:p>
          <a:p>
            <a:r>
              <a:rPr lang="en-US" altLang="zh-CN" b="1" dirty="0"/>
              <a:t>Interpretation: Wheat tends to prefer cooler temp. When temp is moderately warm, yield increases. When heat becomes extreme, yield decreases.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BE08D37-A5EB-E109-38CE-59365826CC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315603-6302-462E-8E91-DFD805EE5743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045422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2F41A-1243-4552-DA0E-D78FEF06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48EE350-6AF6-A07B-9AD1-187A5067B4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2138D0E-061E-94D1-3616-88DB32D807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b="1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D160039-D28A-640A-399B-9A6E57055B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315603-6302-462E-8E91-DFD805EE5743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46977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8F430-42E7-FF21-D448-61647AD0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021EBE1-FEE0-36BF-14B6-319FFA0014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1E1D7E5-8EAE-DD70-9557-052615D6DF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b="1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22B4088-E44D-9644-1AA5-EAA37C9F6E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315603-6302-462E-8E91-DFD805EE5743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557108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315603-6302-462E-8E91-DFD805EE5743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0117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315603-6302-462E-8E91-DFD805EE5743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80717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680EE3-3DB1-5F63-9A96-A0FA891050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93C5506-CF28-3858-EB94-F13144AC67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4638EA-30F6-B270-4230-96AC0E1665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8167B-1E00-487E-BB0D-11FC18BEAF23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75F287B-3C40-281C-C30E-280CD8E12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72E5DF2-3F5A-5F7F-B4B8-1467311FD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85F7-C6CE-4EA6-9F9C-17C3643A77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46317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415459-0891-E818-D8EE-E03768823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1DC6907-7D24-CFDE-2996-A0141A0D7F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2DE6D39-A0CF-B964-732B-6C5A28313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8167B-1E00-487E-BB0D-11FC18BEAF23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836DEE0-D2FB-2F3B-0C48-52CFDC43F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021A11F-EEFB-8D09-254C-E578EE092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85F7-C6CE-4EA6-9F9C-17C3643A77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0445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1C6B51-8953-0E29-F534-985D8A067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2D7468A-1442-21C3-2219-BE089E6BFB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5B89E32-678A-6EBB-9FA2-7D2270E02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8167B-1E00-487E-BB0D-11FC18BEAF23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FF8B722-178C-9EF6-6648-D7F670813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59E25C1-5357-5EE9-1C92-A7B081381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85F7-C6CE-4EA6-9F9C-17C3643A77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64810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F9CFD6-4B4E-4EC2-506D-F10E60AE3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92A9A1-0D6A-6339-426F-32B758916B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E6D7EAF-C92E-D4D8-C43F-27466A1099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F4FE6EA-4207-14FD-7002-470A69F98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8167B-1E00-487E-BB0D-11FC18BEAF23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BF39F4F-D3A4-8E02-D3A9-9029A9331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4A9100-7479-BC57-1CBF-EC193C23A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85F7-C6CE-4EA6-9F9C-17C3643A77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9920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8676E-2472-D5B2-9236-45CA72856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9F786B7-50CE-98A6-9A12-460F922964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59604D-94F6-4327-1BB7-68FA31A70D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6F33738-0BEB-8E2A-4DED-7131F9C1E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31B094C-144F-3C48-01D3-C3A5D705FA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026C007-7E90-2E81-EFBA-C5FD424F6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8167B-1E00-487E-BB0D-11FC18BEAF23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2B4B219-100C-82E1-DFB8-60053C908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5017F63-699E-B3D5-C075-EB8A2B774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85F7-C6CE-4EA6-9F9C-17C3643A77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01779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B56685-BF70-43D3-75A4-9077B662B5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35E087A-786D-13F4-57D9-B062CAF9A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8167B-1E00-487E-BB0D-11FC18BEAF23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8816EB2-56E5-F866-0EDE-578C692B0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F233BFC-6B40-7B94-019A-FA0B72215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85F7-C6CE-4EA6-9F9C-17C3643A77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8980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C86E97A-41C2-DE4E-E343-48BC1F17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8167B-1E00-487E-BB0D-11FC18BEAF23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11F5FD-E7DF-8B94-5F18-EA6A2259B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572D6CE-14E6-455F-6C3D-0CEA178CD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85F7-C6CE-4EA6-9F9C-17C3643A77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7463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EA53CB-C534-4B46-60F6-86617499F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C026706-0D3A-4D1F-0F5B-BFB3C6A12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DC27679-8E70-75B0-F047-19749F5CCB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D2B4414-9E50-D71E-89EC-970673679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8167B-1E00-487E-BB0D-11FC18BEAF23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B582A98-ED45-51FF-13B3-8EFC1B93F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7785570-EA1B-C93D-EBAB-5B515B552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85F7-C6CE-4EA6-9F9C-17C3643A77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94902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A07C7C-BC5B-B0FB-2B38-C6762238E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81E63AD-830A-D831-E446-1A2A641AA9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8CDD9DA-5300-D4F6-E076-BFB38C4571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905A4EA-405A-A923-B8DF-1D7A237D4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8167B-1E00-487E-BB0D-11FC18BEAF23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C71133-2EFC-6038-420F-4312FC8BA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616D243-0978-9BF5-4B15-F77210375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85F7-C6CE-4EA6-9F9C-17C3643A77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74333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A0FED0-5D77-3BBC-2CE8-BAF688D0D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C3CF786-CBC2-FAD3-7E13-7BDA08FD5E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6285066-939F-2C22-4359-573C98B81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8167B-1E00-487E-BB0D-11FC18BEAF23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39CE3F-1492-3D9B-DA7A-448288B4D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AE430F-123E-15C7-0341-F32670AE4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85F7-C6CE-4EA6-9F9C-17C3643A77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02687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D1FF840-5C26-5F2D-6588-97D8D69EB7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359E8D6-3F1B-1A11-8EFB-BB977D23A9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0F0560-694D-7E9F-64CA-FCEEB5E64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8167B-1E00-487E-BB0D-11FC18BEAF23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CEE754B-9382-BDD3-E952-5207A132F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EF5A106-E9DA-BF27-4B57-52763018A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85F7-C6CE-4EA6-9F9C-17C3643A77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4978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DCCD612-9B87-43FB-E0BB-F60045959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093404A-D084-935C-4CB2-3EA4FABA70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E35E199-071A-B05D-66C3-5F6D3AA580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F8167B-1E00-487E-BB0D-11FC18BEAF23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A70CBEA-DE35-AB9A-303C-093588D1C9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DDCF68B-44BC-A2B8-241D-7291265B41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85F7-C6CE-4EA6-9F9C-17C3643A77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03565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ilongxu-usc/dsci510_fall2025_final_projec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79C16B-6D08-0721-D0A6-58D624CFE5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b="1" dirty="0"/>
              <a:t>How Climate Change Affects U.S. Corn and Wheat Yields</a:t>
            </a:r>
            <a:br>
              <a:rPr lang="en-US" altLang="zh-CN" b="1" dirty="0"/>
            </a:br>
            <a:endParaRPr lang="zh-CN" altLang="en-US" b="1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0BEDFDE-CD88-BA3D-C2C1-6D07516ACD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b="1" dirty="0"/>
              <a:t>Yilong Xu</a:t>
            </a:r>
          </a:p>
          <a:p>
            <a:endParaRPr lang="en-US" altLang="zh-CN" b="1" dirty="0"/>
          </a:p>
          <a:p>
            <a:r>
              <a:rPr lang="en-US" altLang="zh-CN" b="1" dirty="0">
                <a:hlinkClick r:id="rId2"/>
              </a:rPr>
              <a:t>https://github.com/yilongxu-usc/dsci510_fall2025_final_project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3704531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3B7594-36AA-ED27-7E56-2FA0469F8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6" name="Rectangle 85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267453B9-643F-2A47-1CAE-8CA7E48D8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anchor="b">
            <a:normAutofit/>
          </a:bodyPr>
          <a:lstStyle/>
          <a:p>
            <a:r>
              <a:rPr lang="en-US" altLang="zh-CN" sz="5400" b="1" dirty="0"/>
              <a:t>Introduction</a:t>
            </a:r>
            <a:endParaRPr lang="zh-CN" altLang="en-US" sz="5400" b="1" dirty="0"/>
          </a:p>
        </p:txBody>
      </p:sp>
      <p:pic>
        <p:nvPicPr>
          <p:cNvPr id="75" name="Picture 74" descr="天空下的金色小麦">
            <a:extLst>
              <a:ext uri="{FF2B5EF4-FFF2-40B4-BE49-F238E27FC236}">
                <a16:creationId xmlns:a16="http://schemas.microsoft.com/office/drawing/2014/main" id="{F7A28FB0-546A-9F78-AA02-E94A12B49F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695" r="32973" b="-1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88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Content Placeholder 8">
            <a:extLst>
              <a:ext uri="{FF2B5EF4-FFF2-40B4-BE49-F238E27FC236}">
                <a16:creationId xmlns:a16="http://schemas.microsoft.com/office/drawing/2014/main" id="{CC64E247-12F4-CDB5-9709-B18680C18C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7762" y="2530549"/>
            <a:ext cx="6251110" cy="3659939"/>
          </a:xfrm>
        </p:spPr>
        <p:txBody>
          <a:bodyPr>
            <a:noAutofit/>
          </a:bodyPr>
          <a:lstStyle/>
          <a:p>
            <a:r>
              <a:rPr lang="en-US" altLang="zh-CN" sz="1600" b="1" dirty="0"/>
              <a:t>Project Goal</a:t>
            </a:r>
            <a:r>
              <a:rPr lang="zh-CN" altLang="en-US" sz="1600" b="1" dirty="0"/>
              <a:t>：</a:t>
            </a:r>
            <a:r>
              <a:rPr lang="en-US" altLang="zh-CN" sz="1600" b="1" dirty="0"/>
              <a:t>To examine how temperature and precipitation relate to corn and wheat yields across different U.S. states from 2015–2024</a:t>
            </a:r>
          </a:p>
          <a:p>
            <a:endParaRPr lang="en-US" altLang="zh-CN" sz="1600" b="1" dirty="0"/>
          </a:p>
          <a:p>
            <a:r>
              <a:rPr lang="en-US" altLang="zh-CN" sz="1600" b="1" dirty="0"/>
              <a:t>Key Questions</a:t>
            </a:r>
            <a:r>
              <a:rPr lang="zh-CN" altLang="en-US" sz="1600" b="1" dirty="0"/>
              <a:t>：</a:t>
            </a:r>
            <a:endParaRPr lang="en-US" altLang="zh-CN" sz="1600" b="1" dirty="0"/>
          </a:p>
          <a:p>
            <a:pPr lvl="1"/>
            <a:r>
              <a:rPr lang="en-US" altLang="zh-CN" sz="1600" b="1" dirty="0"/>
              <a:t>Do corn and wheat respond differently to temperature and precipitation?</a:t>
            </a:r>
          </a:p>
          <a:p>
            <a:pPr lvl="1"/>
            <a:r>
              <a:rPr lang="en-US" altLang="zh-CN" sz="1600" b="1" dirty="0"/>
              <a:t>Are climate–yield relationships consistent across states, or highly regional?</a:t>
            </a:r>
          </a:p>
          <a:p>
            <a:pPr lvl="1"/>
            <a:r>
              <a:rPr lang="en-US" altLang="zh-CN" sz="1600" b="1" dirty="0"/>
              <a:t>Which climate variable appears more influential on crop yield?</a:t>
            </a:r>
          </a:p>
          <a:p>
            <a:endParaRPr lang="en-US" altLang="zh-CN" sz="1600" b="1" dirty="0"/>
          </a:p>
          <a:p>
            <a:r>
              <a:rPr lang="en-US" altLang="zh-CN" sz="1600" b="1" dirty="0"/>
              <a:t>Approach</a:t>
            </a:r>
            <a:r>
              <a:rPr lang="zh-CN" altLang="en-US" sz="1600" b="1" dirty="0"/>
              <a:t>：</a:t>
            </a:r>
            <a:r>
              <a:rPr lang="en-US" altLang="zh-CN" sz="1600" b="1" dirty="0"/>
              <a:t>Integrating USDA crop yield data with NOAA climate records and apply correlation, regression, and trend analysis at the state level</a:t>
            </a:r>
          </a:p>
        </p:txBody>
      </p:sp>
    </p:spTree>
    <p:extLst>
      <p:ext uri="{BB962C8B-B14F-4D97-AF65-F5344CB8AC3E}">
        <p14:creationId xmlns:p14="http://schemas.microsoft.com/office/powerpoint/2010/main" val="20794760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74090B-3E7E-3C81-C782-4C8CC2107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zh-CN" b="1" dirty="0"/>
              <a:t>Data Sources</a:t>
            </a:r>
            <a:br>
              <a:rPr lang="en-US" altLang="zh-CN" b="1" dirty="0"/>
            </a:br>
            <a:r>
              <a:rPr lang="en-US" altLang="zh-CN" sz="1800" b="1" dirty="0"/>
              <a:t>Date Range: 2015/01/01- 2024-12-31</a:t>
            </a:r>
            <a:endParaRPr lang="zh-CN" altLang="en-US" sz="1800" b="1" dirty="0"/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F2D77B2F-AD72-FC33-61CE-378DB5849D1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25152846"/>
              </p:ext>
            </p:extLst>
          </p:nvPr>
        </p:nvGraphicFramePr>
        <p:xfrm>
          <a:off x="838200" y="1910292"/>
          <a:ext cx="10515600" cy="46537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3885312875"/>
                    </a:ext>
                  </a:extLst>
                </a:gridCol>
                <a:gridCol w="3876169">
                  <a:extLst>
                    <a:ext uri="{9D8B030D-6E8A-4147-A177-3AD203B41FA5}">
                      <a16:colId xmlns:a16="http://schemas.microsoft.com/office/drawing/2014/main" val="291762609"/>
                    </a:ext>
                  </a:extLst>
                </a:gridCol>
                <a:gridCol w="1134319">
                  <a:extLst>
                    <a:ext uri="{9D8B030D-6E8A-4147-A177-3AD203B41FA5}">
                      <a16:colId xmlns:a16="http://schemas.microsoft.com/office/drawing/2014/main" val="742852768"/>
                    </a:ext>
                  </a:extLst>
                </a:gridCol>
                <a:gridCol w="1851949">
                  <a:extLst>
                    <a:ext uri="{9D8B030D-6E8A-4147-A177-3AD203B41FA5}">
                      <a16:colId xmlns:a16="http://schemas.microsoft.com/office/drawing/2014/main" val="691318047"/>
                    </a:ext>
                  </a:extLst>
                </a:gridCol>
                <a:gridCol w="1550043">
                  <a:extLst>
                    <a:ext uri="{9D8B030D-6E8A-4147-A177-3AD203B41FA5}">
                      <a16:colId xmlns:a16="http://schemas.microsoft.com/office/drawing/2014/main" val="2886645305"/>
                    </a:ext>
                  </a:extLst>
                </a:gridCol>
              </a:tblGrid>
              <a:tr h="681278">
                <a:tc>
                  <a:txBody>
                    <a:bodyPr/>
                    <a:lstStyle/>
                    <a:p>
                      <a:r>
                        <a:rPr lang="en-US" altLang="zh-CN" sz="1400" b="1" dirty="0"/>
                        <a:t>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1" dirty="0"/>
                        <a:t>Description</a:t>
                      </a:r>
                      <a:endParaRPr lang="zh-CN" alt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1" dirty="0"/>
                        <a:t>Type</a:t>
                      </a:r>
                      <a:endParaRPr lang="zh-CN" alt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1" dirty="0"/>
                        <a:t>Format</a:t>
                      </a:r>
                      <a:endParaRPr lang="zh-CN" alt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1" dirty="0"/>
                        <a:t>Data Size</a:t>
                      </a:r>
                      <a:endParaRPr lang="zh-CN" altLang="en-US" sz="1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51797"/>
                  </a:ext>
                </a:extLst>
              </a:tr>
              <a:tr h="1300435">
                <a:tc>
                  <a:txBody>
                    <a:bodyPr/>
                    <a:lstStyle/>
                    <a:p>
                      <a:r>
                        <a:rPr lang="en-US" altLang="zh-CN" sz="1400" b="1" dirty="0"/>
                        <a:t>Corn Yield Data,</a:t>
                      </a:r>
                    </a:p>
                    <a:p>
                      <a:r>
                        <a:rPr lang="en-US" altLang="zh-CN" sz="1400" b="1" dirty="0"/>
                        <a:t>USDA NASS</a:t>
                      </a:r>
                      <a:endParaRPr lang="zh-CN" alt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zh-CN" sz="1400" b="1" dirty="0"/>
                        <a:t>Provides annual corn yield (bushels per acre) for U.S. states.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zh-CN" sz="1400" b="1" dirty="0"/>
                        <a:t>Shows how corn productivity varies geographically and how yields change over time</a:t>
                      </a:r>
                      <a:endParaRPr lang="zh-CN" altLang="en-US" sz="1400" b="1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r>
                        <a:rPr lang="en-US" altLang="zh-CN" sz="1400" b="1" dirty="0"/>
                        <a:t>API 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1" dirty="0"/>
                        <a:t>HTML response &gt; </a:t>
                      </a:r>
                      <a:r>
                        <a:rPr lang="en-US" altLang="zh-CN" sz="1400" b="1" dirty="0" err="1"/>
                        <a:t>json</a:t>
                      </a:r>
                      <a:r>
                        <a:rPr lang="en-US" altLang="zh-CN" sz="1400" b="1" dirty="0"/>
                        <a:t> &gt; CSV</a:t>
                      </a:r>
                      <a:endParaRPr lang="zh-CN" alt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1" dirty="0"/>
                        <a:t>2400 rows,</a:t>
                      </a:r>
                    </a:p>
                    <a:p>
                      <a:r>
                        <a:rPr lang="en-US" altLang="zh-CN" sz="1400" b="1" dirty="0"/>
                        <a:t>3 columns</a:t>
                      </a:r>
                      <a:endParaRPr lang="zh-CN" altLang="en-US" sz="1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100628"/>
                  </a:ext>
                </a:extLst>
              </a:tr>
              <a:tr h="1300435">
                <a:tc>
                  <a:txBody>
                    <a:bodyPr/>
                    <a:lstStyle/>
                    <a:p>
                      <a:r>
                        <a:rPr lang="en-US" altLang="zh-CN" sz="1400" b="1" dirty="0"/>
                        <a:t>Wheat Yield Data,</a:t>
                      </a:r>
                    </a:p>
                    <a:p>
                      <a:r>
                        <a:rPr lang="en-US" altLang="zh-CN" sz="1400" b="1" dirty="0"/>
                        <a:t>USDA NASS</a:t>
                      </a:r>
                      <a:endParaRPr lang="zh-CN" alt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zh-CN" sz="1400" b="1" dirty="0"/>
                        <a:t>Contains annual wheat yield statistics for U.S. states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zh-CN" sz="1400" b="1" dirty="0"/>
                        <a:t>Works together with corn yield data to provide two independent agricultural indicators</a:t>
                      </a:r>
                      <a:endParaRPr lang="zh-CN" altLang="en-US" sz="1400" b="1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1" dirty="0"/>
                        <a:t>HTML response &gt; </a:t>
                      </a:r>
                      <a:r>
                        <a:rPr lang="en-US" altLang="zh-CN" sz="1400" b="1" dirty="0" err="1"/>
                        <a:t>json</a:t>
                      </a:r>
                      <a:r>
                        <a:rPr lang="en-US" altLang="zh-CN" sz="1400" b="1" dirty="0"/>
                        <a:t> &gt; CSV</a:t>
                      </a:r>
                      <a:endParaRPr lang="zh-CN" altLang="en-US" sz="1400" b="1" dirty="0"/>
                    </a:p>
                    <a:p>
                      <a:endParaRPr lang="zh-CN" alt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1" dirty="0"/>
                        <a:t>2600 rows,</a:t>
                      </a:r>
                    </a:p>
                    <a:p>
                      <a:r>
                        <a:rPr lang="en-US" altLang="zh-CN" sz="1400" b="1" dirty="0"/>
                        <a:t>3 columns</a:t>
                      </a:r>
                      <a:endParaRPr lang="zh-CN" altLang="en-US" sz="1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6520423"/>
                  </a:ext>
                </a:extLst>
              </a:tr>
              <a:tr h="1300435">
                <a:tc>
                  <a:txBody>
                    <a:bodyPr/>
                    <a:lstStyle/>
                    <a:p>
                      <a:r>
                        <a:rPr lang="en-US" altLang="zh-CN" sz="1400" b="1" dirty="0"/>
                        <a:t>Monthly temperature and </a:t>
                      </a:r>
                      <a:r>
                        <a:rPr lang="en-US" altLang="zh-CN" sz="1400" b="1" dirty="0" err="1"/>
                        <a:t>precipitaion</a:t>
                      </a:r>
                      <a:endParaRPr lang="zh-CN" alt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zh-CN" sz="1400" b="1" dirty="0"/>
                        <a:t>Provides monthly average temperature (TAVG) and total precipitation (PRCP) for multiple U.S. climate stations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zh-CN" sz="1400" b="1" dirty="0"/>
                        <a:t>Used to compute annual climate metrics (mean temperature, accumulated precipitation) matched by state</a:t>
                      </a:r>
                      <a:endParaRPr lang="zh-CN" altLang="en-US" sz="1400" b="1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1" dirty="0"/>
                        <a:t>HTML response &gt; </a:t>
                      </a:r>
                      <a:r>
                        <a:rPr lang="en-US" altLang="zh-CN" sz="1400" b="1" dirty="0" err="1"/>
                        <a:t>json</a:t>
                      </a:r>
                      <a:r>
                        <a:rPr lang="en-US" altLang="zh-CN" sz="1400" b="1" dirty="0"/>
                        <a:t> &gt; CSV</a:t>
                      </a:r>
                      <a:endParaRPr lang="zh-CN" altLang="en-US" sz="1400" b="1" dirty="0"/>
                    </a:p>
                    <a:p>
                      <a:endParaRPr lang="zh-CN" alt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1" dirty="0"/>
                        <a:t>950 rows, </a:t>
                      </a:r>
                    </a:p>
                    <a:p>
                      <a:r>
                        <a:rPr lang="en-US" altLang="zh-CN" sz="1400" b="1" dirty="0"/>
                        <a:t>7 columns</a:t>
                      </a:r>
                      <a:endParaRPr lang="zh-CN" altLang="en-US" sz="1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45167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00433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8" name="Rectangle 57">
            <a:extLst>
              <a:ext uri="{FF2B5EF4-FFF2-40B4-BE49-F238E27FC236}">
                <a16:creationId xmlns:a16="http://schemas.microsoft.com/office/drawing/2014/main" id="{84ECDE7A-6944-466D-8FFE-149A29BA6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内容占位符 4" descr="图表, 折线图&#10;&#10;AI 生成的内容可能不正确。">
            <a:extLst>
              <a:ext uri="{FF2B5EF4-FFF2-40B4-BE49-F238E27FC236}">
                <a16:creationId xmlns:a16="http://schemas.microsoft.com/office/drawing/2014/main" id="{41BCAA0B-CF18-72AF-7680-90EB108065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6" r="1191" b="-3"/>
          <a:stretch>
            <a:fillRect/>
          </a:stretch>
        </p:blipFill>
        <p:spPr>
          <a:xfrm>
            <a:off x="-88560" y="1728216"/>
            <a:ext cx="7974957" cy="4902097"/>
          </a:xfrm>
          <a:prstGeom prst="rect">
            <a:avLst/>
          </a:prstGeom>
        </p:spPr>
      </p:pic>
      <p:sp useBgFill="1">
        <p:nvSpPr>
          <p:cNvPr id="60" name="Rectangle 59">
            <a:extLst>
              <a:ext uri="{FF2B5EF4-FFF2-40B4-BE49-F238E27FC236}">
                <a16:creationId xmlns:a16="http://schemas.microsoft.com/office/drawing/2014/main" id="{B3420082-9415-44EC-802E-C77D71D59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55A52C45-1FCB-4636-A80F-2849B8226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Content Placeholder 8">
            <a:extLst>
              <a:ext uri="{FF2B5EF4-FFF2-40B4-BE49-F238E27FC236}">
                <a16:creationId xmlns:a16="http://schemas.microsoft.com/office/drawing/2014/main" id="{C31F431C-1E00-2F65-483D-D47487BA3E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11453" y="2478024"/>
            <a:ext cx="3872243" cy="3694176"/>
          </a:xfrm>
        </p:spPr>
        <p:txBody>
          <a:bodyPr anchor="ctr">
            <a:normAutofit/>
          </a:bodyPr>
          <a:lstStyle/>
          <a:p>
            <a:r>
              <a:rPr lang="en-US" sz="1800" b="1" dirty="0"/>
              <a:t>All five states (CA, IL, NY, TX, UT) show mild warming trends, but not uniformly.</a:t>
            </a:r>
          </a:p>
          <a:p>
            <a:r>
              <a:rPr lang="en-US" sz="1800" b="1" dirty="0"/>
              <a:t>California and Texas have the warmest average temperatures (17–20°C range)</a:t>
            </a:r>
          </a:p>
          <a:p>
            <a:r>
              <a:rPr lang="en-US" altLang="zh-CN" sz="1800" b="1" dirty="0"/>
              <a:t>Illinois and New York stay cooler (9–14°C range)</a:t>
            </a:r>
          </a:p>
          <a:p>
            <a:r>
              <a:rPr lang="en-US" sz="1800" b="1" dirty="0"/>
              <a:t>Utah shows the largest year-to-year fluctuation, indicating higher climate variability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C6C6A38-E479-B4A3-0F07-8FF380F73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altLang="zh-CN" sz="3600" b="1" dirty="0"/>
              <a:t>Temperature Trends Across States (2015–2024)</a:t>
            </a:r>
            <a:endParaRPr lang="zh-CN" altLang="en-US" sz="3600" b="1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768EB4DD-3704-43AD-92B3-C4E0C6EA9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7079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7880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84ECDE7A-6944-466D-8FFE-149A29BA6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图片 6" descr="图表, 折线图&#10;&#10;AI 生成的内容可能不正确。">
            <a:extLst>
              <a:ext uri="{FF2B5EF4-FFF2-40B4-BE49-F238E27FC236}">
                <a16:creationId xmlns:a16="http://schemas.microsoft.com/office/drawing/2014/main" id="{317CD92A-998D-AE7B-1926-EB6636096F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9" r="-3" b="-3"/>
          <a:stretch>
            <a:fillRect/>
          </a:stretch>
        </p:blipFill>
        <p:spPr>
          <a:xfrm>
            <a:off x="0" y="1863852"/>
            <a:ext cx="8008181" cy="4922520"/>
          </a:xfrm>
          <a:prstGeom prst="rect">
            <a:avLst/>
          </a:prstGeom>
        </p:spPr>
      </p:pic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B3420082-9415-44EC-802E-C77D71D59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55A52C45-1FCB-4636-A80F-2849B8226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5DEB2D97-5A62-9D26-E28C-585767460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altLang="zh-CN" sz="3600" b="1" dirty="0"/>
              <a:t>Precipitation Trends (2015–2024)</a:t>
            </a:r>
            <a:endParaRPr lang="zh-CN" altLang="en-US" sz="3600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68EB4DD-3704-43AD-92B3-C4E0C6EA9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7079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BC6B0D5-6EC7-F153-A3B9-CA51F9E69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11453" y="2478024"/>
            <a:ext cx="3872243" cy="3694176"/>
          </a:xfrm>
        </p:spPr>
        <p:txBody>
          <a:bodyPr anchor="ctr">
            <a:normAutofit lnSpcReduction="10000"/>
          </a:bodyPr>
          <a:lstStyle/>
          <a:p>
            <a:r>
              <a:rPr lang="en-US" altLang="zh-CN" sz="1400" b="1" dirty="0"/>
              <a:t>Precipitation levels differ widely across states. Texas (TX) and New York (NY) have the highest rainfall, while California (CA) and Utah (UT) experience consistently dry conditions</a:t>
            </a:r>
          </a:p>
          <a:p>
            <a:r>
              <a:rPr lang="en-US" altLang="zh-CN" sz="1400" b="1" dirty="0"/>
              <a:t>Texas shows the strongest volatility, swinging between very wet and very dry years, indicating strong influence from extremes such as droughts and heavy storms.</a:t>
            </a:r>
          </a:p>
          <a:p>
            <a:r>
              <a:rPr lang="en-US" altLang="zh-CN" sz="1400" b="1" dirty="0"/>
              <a:t>New York also fluctuates, but the changes are less dramatic compared to Texas</a:t>
            </a:r>
          </a:p>
          <a:p>
            <a:r>
              <a:rPr lang="en-US" altLang="zh-CN" sz="1400" b="1" dirty="0"/>
              <a:t>Illinois has moderate and relatively stable precipitation, without extreme annual swings</a:t>
            </a:r>
          </a:p>
          <a:p>
            <a:r>
              <a:rPr lang="en-US" altLang="zh-CN" sz="1400" b="1" dirty="0"/>
              <a:t>California and Utah remain low-precipitation states, with smaller overall variations, reflecting their arid climates</a:t>
            </a:r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9446155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A9129A-C204-2C6D-59DA-B077B8E36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Rectangle 61">
            <a:extLst>
              <a:ext uri="{FF2B5EF4-FFF2-40B4-BE49-F238E27FC236}">
                <a16:creationId xmlns:a16="http://schemas.microsoft.com/office/drawing/2014/main" id="{E73BBE33-B533-4661-8A6A-6BD8D05EB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1" name="图片 20" descr="图表, 散点图&#10;&#10;AI 生成的内容可能不正确。">
            <a:extLst>
              <a:ext uri="{FF2B5EF4-FFF2-40B4-BE49-F238E27FC236}">
                <a16:creationId xmlns:a16="http://schemas.microsoft.com/office/drawing/2014/main" id="{1AD60CE1-F63A-A8FC-A2CD-9E94EB912B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" r="3" b="3"/>
          <a:stretch>
            <a:fillRect/>
          </a:stretch>
        </p:blipFill>
        <p:spPr>
          <a:xfrm>
            <a:off x="0" y="3767891"/>
            <a:ext cx="3703413" cy="2778133"/>
          </a:xfrm>
          <a:prstGeom prst="rect">
            <a:avLst/>
          </a:prstGeom>
        </p:spPr>
      </p:pic>
      <p:pic>
        <p:nvPicPr>
          <p:cNvPr id="38" name="图片 37" descr="图表, 散点图&#10;&#10;AI 生成的内容可能不正确。">
            <a:extLst>
              <a:ext uri="{FF2B5EF4-FFF2-40B4-BE49-F238E27FC236}">
                <a16:creationId xmlns:a16="http://schemas.microsoft.com/office/drawing/2014/main" id="{6596321F-CAF6-AC06-62D8-3D4D8F22C8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53"/>
          <a:stretch>
            <a:fillRect/>
          </a:stretch>
        </p:blipFill>
        <p:spPr>
          <a:xfrm>
            <a:off x="3703413" y="842243"/>
            <a:ext cx="3811271" cy="2756884"/>
          </a:xfrm>
          <a:prstGeom prst="rect">
            <a:avLst/>
          </a:prstGeom>
        </p:spPr>
      </p:pic>
      <p:pic>
        <p:nvPicPr>
          <p:cNvPr id="40" name="图片 39" descr="图表, 散点图&#10;&#10;AI 生成的内容可能不正确。">
            <a:extLst>
              <a:ext uri="{FF2B5EF4-FFF2-40B4-BE49-F238E27FC236}">
                <a16:creationId xmlns:a16="http://schemas.microsoft.com/office/drawing/2014/main" id="{64A15904-BF3B-715A-CD8C-8099B5D655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10" r="3590" b="-3"/>
          <a:stretch>
            <a:fillRect/>
          </a:stretch>
        </p:blipFill>
        <p:spPr>
          <a:xfrm>
            <a:off x="4029741" y="3789140"/>
            <a:ext cx="3396390" cy="2756884"/>
          </a:xfrm>
          <a:prstGeom prst="rect">
            <a:avLst/>
          </a:prstGeom>
        </p:spPr>
      </p:pic>
      <p:pic>
        <p:nvPicPr>
          <p:cNvPr id="46" name="图片 45" descr="图表, 散点图&#10;&#10;AI 生成的内容可能不正确。">
            <a:extLst>
              <a:ext uri="{FF2B5EF4-FFF2-40B4-BE49-F238E27FC236}">
                <a16:creationId xmlns:a16="http://schemas.microsoft.com/office/drawing/2014/main" id="{23E159A7-91EC-2523-1836-EACF68AD3A6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230"/>
          <a:stretch>
            <a:fillRect/>
          </a:stretch>
        </p:blipFill>
        <p:spPr>
          <a:xfrm>
            <a:off x="7752459" y="3789140"/>
            <a:ext cx="3798529" cy="2756884"/>
          </a:xfrm>
          <a:prstGeom prst="rect">
            <a:avLst/>
          </a:prstGeom>
        </p:spPr>
      </p:pic>
      <p:pic>
        <p:nvPicPr>
          <p:cNvPr id="44" name="图片 43" descr="图表, 散点图&#10;&#10;AI 生成的内容可能不正确。">
            <a:extLst>
              <a:ext uri="{FF2B5EF4-FFF2-40B4-BE49-F238E27FC236}">
                <a16:creationId xmlns:a16="http://schemas.microsoft.com/office/drawing/2014/main" id="{36907C6E-105C-935F-47F0-C2915F2742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02" r="-3" b="-3"/>
          <a:stretch>
            <a:fillRect/>
          </a:stretch>
        </p:blipFill>
        <p:spPr>
          <a:xfrm>
            <a:off x="341883" y="842243"/>
            <a:ext cx="3548257" cy="2880144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25E15CCD-1C8D-C225-D0E6-09876BD6B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" y="58427"/>
            <a:ext cx="12192001" cy="52834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altLang="zh-CN" sz="2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Effect of Temperature on Corn Yields (per state)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F8E6FFA-F2CD-F47D-70D0-849914FE4AFC}"/>
              </a:ext>
            </a:extLst>
          </p:cNvPr>
          <p:cNvSpPr txBox="1"/>
          <p:nvPr/>
        </p:nvSpPr>
        <p:spPr>
          <a:xfrm>
            <a:off x="7752459" y="1201110"/>
            <a:ext cx="418653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/>
              <a:t>Each point represents a state-level annual observation, pairing average temperature with corn yield for that year</a:t>
            </a:r>
            <a:endParaRPr lang="zh-CN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891636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A546EF-9691-7DB2-507A-5E22CBE3D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201C88F9-E440-45DE-A776-9609EB590B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图片 9" descr="图表, 散点图&#10;&#10;AI 生成的内容可能不正确。">
            <a:extLst>
              <a:ext uri="{FF2B5EF4-FFF2-40B4-BE49-F238E27FC236}">
                <a16:creationId xmlns:a16="http://schemas.microsoft.com/office/drawing/2014/main" id="{BB07C03D-EEF1-E0E4-CC9F-767972B3DE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42" y="880656"/>
            <a:ext cx="3709841" cy="2782380"/>
          </a:xfrm>
          <a:prstGeom prst="rect">
            <a:avLst/>
          </a:prstGeom>
        </p:spPr>
      </p:pic>
      <p:pic>
        <p:nvPicPr>
          <p:cNvPr id="12" name="图片 11" descr="图表, 散点图&#10;&#10;AI 生成的内容可能不正确。">
            <a:extLst>
              <a:ext uri="{FF2B5EF4-FFF2-40B4-BE49-F238E27FC236}">
                <a16:creationId xmlns:a16="http://schemas.microsoft.com/office/drawing/2014/main" id="{2E17481C-1D84-DD59-3C49-F37FA91476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2590" y="3785516"/>
            <a:ext cx="3736697" cy="2802522"/>
          </a:xfrm>
          <a:prstGeom prst="rect">
            <a:avLst/>
          </a:prstGeom>
        </p:spPr>
      </p:pic>
      <p:pic>
        <p:nvPicPr>
          <p:cNvPr id="4" name="图片 3" descr="图表, 散点图&#10;&#10;AI 生成的内容可能不正确。">
            <a:extLst>
              <a:ext uri="{FF2B5EF4-FFF2-40B4-BE49-F238E27FC236}">
                <a16:creationId xmlns:a16="http://schemas.microsoft.com/office/drawing/2014/main" id="{DC0F2A4D-25E7-E60B-387B-2739EB7CEC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99" y="3754576"/>
            <a:ext cx="3736697" cy="2802521"/>
          </a:xfrm>
          <a:prstGeom prst="rect">
            <a:avLst/>
          </a:prstGeom>
        </p:spPr>
      </p:pic>
      <p:pic>
        <p:nvPicPr>
          <p:cNvPr id="6" name="图片 5" descr="图表, 散点图&#10;&#10;AI 生成的内容可能不正确。">
            <a:extLst>
              <a:ext uri="{FF2B5EF4-FFF2-40B4-BE49-F238E27FC236}">
                <a16:creationId xmlns:a16="http://schemas.microsoft.com/office/drawing/2014/main" id="{56A51388-6AE5-95A7-C7D8-9F7B789855C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2783" y="888228"/>
            <a:ext cx="3929675" cy="2947255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832163C9-FE7B-F1EA-D514-CD8016A2C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951" cy="5012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altLang="zh-CN" sz="2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Effect of Temperature on Wheat Yields (per state)</a:t>
            </a:r>
          </a:p>
        </p:txBody>
      </p:sp>
      <p:pic>
        <p:nvPicPr>
          <p:cNvPr id="8" name="图片 7" descr="图表, 散点图&#10;&#10;AI 生成的内容可能不正确。">
            <a:extLst>
              <a:ext uri="{FF2B5EF4-FFF2-40B4-BE49-F238E27FC236}">
                <a16:creationId xmlns:a16="http://schemas.microsoft.com/office/drawing/2014/main" id="{5348FACD-0B79-38D1-A451-F5965E7C967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6295" y="3779537"/>
            <a:ext cx="3736697" cy="2802521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96BA27FB-D71C-98F4-5D3F-4045DC0D6B30}"/>
              </a:ext>
            </a:extLst>
          </p:cNvPr>
          <p:cNvSpPr txBox="1"/>
          <p:nvPr/>
        </p:nvSpPr>
        <p:spPr>
          <a:xfrm>
            <a:off x="7752459" y="1201110"/>
            <a:ext cx="418653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/>
              <a:t>Each point represents a state-level annual observation, pairing average temperature with wheat yield for that year</a:t>
            </a:r>
            <a:endParaRPr lang="zh-CN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40659189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DF47F1-CDC3-EF4F-F09A-CB34EF12F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E73BBE33-B533-4661-8A6A-6BD8D05EB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8E4EEB18-C2AD-7E42-CB51-2F344EB87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91" y="0"/>
            <a:ext cx="12150168" cy="52514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altLang="zh-CN" sz="2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Effect of Precipitation on Corn Yields (per state)</a:t>
            </a:r>
          </a:p>
        </p:txBody>
      </p:sp>
      <p:pic>
        <p:nvPicPr>
          <p:cNvPr id="5" name="图片 4" descr="图表, 散点图&#10;&#10;AI 生成的内容可能不正确。">
            <a:extLst>
              <a:ext uri="{FF2B5EF4-FFF2-40B4-BE49-F238E27FC236}">
                <a16:creationId xmlns:a16="http://schemas.microsoft.com/office/drawing/2014/main" id="{ADBEC60C-319C-5F6F-3518-9CDC4DC425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" r="3" b="3"/>
          <a:stretch>
            <a:fillRect/>
          </a:stretch>
        </p:blipFill>
        <p:spPr>
          <a:xfrm>
            <a:off x="38783" y="3629106"/>
            <a:ext cx="3671980" cy="2877824"/>
          </a:xfrm>
          <a:prstGeom prst="rect">
            <a:avLst/>
          </a:prstGeom>
        </p:spPr>
      </p:pic>
      <p:pic>
        <p:nvPicPr>
          <p:cNvPr id="9" name="图片 8" descr="图表, 散点图&#10;&#10;AI 生成的内容可能不正确。">
            <a:extLst>
              <a:ext uri="{FF2B5EF4-FFF2-40B4-BE49-F238E27FC236}">
                <a16:creationId xmlns:a16="http://schemas.microsoft.com/office/drawing/2014/main" id="{4AB0C567-3439-F609-F862-5692FC9F35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53"/>
          <a:stretch>
            <a:fillRect/>
          </a:stretch>
        </p:blipFill>
        <p:spPr>
          <a:xfrm>
            <a:off x="3646401" y="825639"/>
            <a:ext cx="3978467" cy="2877824"/>
          </a:xfrm>
          <a:prstGeom prst="rect">
            <a:avLst/>
          </a:prstGeom>
        </p:spPr>
      </p:pic>
      <p:pic>
        <p:nvPicPr>
          <p:cNvPr id="15" name="图片 14" descr="图表, 散点图&#10;&#10;AI 生成的内容可能不正确。">
            <a:extLst>
              <a:ext uri="{FF2B5EF4-FFF2-40B4-BE49-F238E27FC236}">
                <a16:creationId xmlns:a16="http://schemas.microsoft.com/office/drawing/2014/main" id="{4C73AEB3-8276-133D-A7AA-2B15A26778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230"/>
          <a:stretch>
            <a:fillRect/>
          </a:stretch>
        </p:blipFill>
        <p:spPr>
          <a:xfrm>
            <a:off x="38783" y="924995"/>
            <a:ext cx="3691372" cy="2679111"/>
          </a:xfrm>
          <a:prstGeom prst="rect">
            <a:avLst/>
          </a:prstGeom>
        </p:spPr>
      </p:pic>
      <p:pic>
        <p:nvPicPr>
          <p:cNvPr id="20" name="图片 19" descr="图表, 散点图&#10;&#10;AI 生成的内容可能不正确。">
            <a:extLst>
              <a:ext uri="{FF2B5EF4-FFF2-40B4-BE49-F238E27FC236}">
                <a16:creationId xmlns:a16="http://schemas.microsoft.com/office/drawing/2014/main" id="{3DDEB4AA-0FE6-AC75-0BA0-3A8B6ADE26B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0763" y="3629106"/>
            <a:ext cx="3914105" cy="2935579"/>
          </a:xfrm>
          <a:prstGeom prst="rect">
            <a:avLst/>
          </a:prstGeom>
        </p:spPr>
      </p:pic>
      <p:pic>
        <p:nvPicPr>
          <p:cNvPr id="22" name="图片 21" descr="图表, 散点图&#10;&#10;AI 生成的内容可能不正确。">
            <a:extLst>
              <a:ext uri="{FF2B5EF4-FFF2-40B4-BE49-F238E27FC236}">
                <a16:creationId xmlns:a16="http://schemas.microsoft.com/office/drawing/2014/main" id="{F0EF470C-8A40-A347-5333-87CC8FE6A55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8682" y="3629107"/>
            <a:ext cx="3914105" cy="2935579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DF605B47-1622-2C27-93F0-67BCC86023F3}"/>
              </a:ext>
            </a:extLst>
          </p:cNvPr>
          <p:cNvSpPr txBox="1"/>
          <p:nvPr/>
        </p:nvSpPr>
        <p:spPr>
          <a:xfrm>
            <a:off x="7624868" y="1405477"/>
            <a:ext cx="418653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/>
              <a:t>Each point represents a state-level annual observation, pairing average precipitation with corn yield for that year</a:t>
            </a:r>
            <a:endParaRPr lang="zh-CN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6485699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67E35-CAC4-7561-97E7-2FADE85FD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65C276-7A33-FBED-8644-4B8E886CB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1176"/>
            <a:ext cx="12192000" cy="62786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altLang="zh-CN" sz="2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Effect of Precipitation on Wheat Yields (per state)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25EDE18-3071-C342-CB9C-BFC575A5A9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2" r="2152"/>
          <a:stretch/>
        </p:blipFill>
        <p:spPr>
          <a:xfrm>
            <a:off x="112427" y="3743579"/>
            <a:ext cx="3611122" cy="2830128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C30A873-0D69-3B81-0B8B-BF379377DD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7" b="1777"/>
          <a:stretch/>
        </p:blipFill>
        <p:spPr>
          <a:xfrm>
            <a:off x="3835046" y="861913"/>
            <a:ext cx="3757312" cy="2717852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83E3D78E-41F0-892B-AB26-778EB20883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5" b="1615"/>
          <a:stretch/>
        </p:blipFill>
        <p:spPr>
          <a:xfrm>
            <a:off x="-33762" y="816894"/>
            <a:ext cx="3868808" cy="280789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0D739B62-96E3-FC33-C16F-C67D90B1D3E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98229" y="3755723"/>
            <a:ext cx="3757312" cy="2817984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E52ABF4F-57D5-2F9E-31B6-64B8E3E8B34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04902" y="3755723"/>
            <a:ext cx="3844794" cy="2883595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2B4B22D2-0CAC-59CA-2860-976DBD11A7C3}"/>
              </a:ext>
            </a:extLst>
          </p:cNvPr>
          <p:cNvSpPr txBox="1"/>
          <p:nvPr/>
        </p:nvSpPr>
        <p:spPr>
          <a:xfrm>
            <a:off x="7624868" y="1405477"/>
            <a:ext cx="418653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/>
              <a:t>Each point represents a state-level annual observation, pairing average precipitation with wheat yield for that year</a:t>
            </a:r>
            <a:endParaRPr lang="zh-CN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41154815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45DECD4C-8063-7F7D-DB29-CA97D4C92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991443"/>
            <a:ext cx="4443154" cy="1087819"/>
          </a:xfrm>
        </p:spPr>
        <p:txBody>
          <a:bodyPr anchor="b">
            <a:normAutofit/>
          </a:bodyPr>
          <a:lstStyle/>
          <a:p>
            <a:r>
              <a:rPr lang="en-US" altLang="zh-CN" sz="3400" b="1" dirty="0"/>
              <a:t>Heatmap</a:t>
            </a:r>
            <a:endParaRPr lang="zh-CN" altLang="en-US" sz="3400" b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49223" y="38793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1480" y="2285541"/>
            <a:ext cx="438912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C99AF29-964C-5F82-5668-9B87F5571F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2684095"/>
            <a:ext cx="4443154" cy="3492868"/>
          </a:xfrm>
        </p:spPr>
        <p:txBody>
          <a:bodyPr>
            <a:normAutofit fontScale="85000" lnSpcReduction="10000"/>
          </a:bodyPr>
          <a:lstStyle/>
          <a:p>
            <a:r>
              <a:rPr lang="en-US" sz="1800" b="1" dirty="0"/>
              <a:t>Higher temperatures tend to be associated with slightly lower crop yields across states. This is consistent with heat-stress effects on both crops, especially wheat.</a:t>
            </a:r>
          </a:p>
          <a:p>
            <a:r>
              <a:rPr lang="en-US" altLang="zh-CN" sz="1800" b="1" dirty="0"/>
              <a:t>Precipitation does not show a strong or consistent relationship with yields.</a:t>
            </a:r>
          </a:p>
          <a:p>
            <a:r>
              <a:rPr lang="en-US" altLang="zh-CN" sz="1800" b="1" dirty="0"/>
              <a:t>States with good conditions for one crop tend to have good conditions for the other.</a:t>
            </a:r>
          </a:p>
          <a:p>
            <a:r>
              <a:rPr lang="en-US" altLang="zh-CN" sz="1800" b="1" dirty="0"/>
              <a:t>Warmer years are slightly drier, but the relationship is weak and varies across states</a:t>
            </a:r>
          </a:p>
          <a:p>
            <a:r>
              <a:rPr lang="en-US" altLang="zh-CN" sz="1800" b="1" dirty="0"/>
              <a:t>Temperature is a more influential factor than precipitation for both crops, but neither variable alone is a strong predictor of yield — indicating complex interactions behind crop performance</a:t>
            </a:r>
            <a:endParaRPr lang="en-US" sz="1800" b="1" dirty="0"/>
          </a:p>
          <a:p>
            <a:endParaRPr lang="en-US" sz="1800" b="1" dirty="0"/>
          </a:p>
        </p:txBody>
      </p:sp>
      <p:pic>
        <p:nvPicPr>
          <p:cNvPr id="5" name="内容占位符 4" descr="图表, 树状图&#10;&#10;AI 生成的内容可能不正确。">
            <a:extLst>
              <a:ext uri="{FF2B5EF4-FFF2-40B4-BE49-F238E27FC236}">
                <a16:creationId xmlns:a16="http://schemas.microsoft.com/office/drawing/2014/main" id="{F59369AC-94C8-E8A1-3263-4FCF11ED56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1352" y="566839"/>
            <a:ext cx="6903210" cy="5919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9600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42912-9D23-7A12-F743-CDE7BF773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115719BB-48A7-4AF4-BB91-DC82E0DF72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10973A55-5440-4A99-B526-B5812E4627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6096002" cy="6858000"/>
          </a:xfrm>
          <a:custGeom>
            <a:avLst/>
            <a:gdLst>
              <a:gd name="connsiteX0" fmla="*/ 0 w 6096002"/>
              <a:gd name="connsiteY0" fmla="*/ 0 h 6858000"/>
              <a:gd name="connsiteX1" fmla="*/ 4885967 w 6096002"/>
              <a:gd name="connsiteY1" fmla="*/ 0 h 6858000"/>
              <a:gd name="connsiteX2" fmla="*/ 4946007 w 6096002"/>
              <a:gd name="connsiteY2" fmla="*/ 69271 h 6858000"/>
              <a:gd name="connsiteX3" fmla="*/ 6096002 w 6096002"/>
              <a:gd name="connsiteY3" fmla="*/ 3429000 h 6858000"/>
              <a:gd name="connsiteX4" fmla="*/ 4946007 w 6096002"/>
              <a:gd name="connsiteY4" fmla="*/ 6788730 h 6858000"/>
              <a:gd name="connsiteX5" fmla="*/ 4885967 w 6096002"/>
              <a:gd name="connsiteY5" fmla="*/ 6858000 h 6858000"/>
              <a:gd name="connsiteX6" fmla="*/ 0 w 609600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96002" h="6858000">
                <a:moveTo>
                  <a:pt x="0" y="0"/>
                </a:moveTo>
                <a:lnTo>
                  <a:pt x="4885967" y="0"/>
                </a:lnTo>
                <a:lnTo>
                  <a:pt x="4946007" y="69271"/>
                </a:lnTo>
                <a:cubicBezTo>
                  <a:pt x="5656533" y="929100"/>
                  <a:pt x="6096002" y="2116944"/>
                  <a:pt x="6096002" y="3429000"/>
                </a:cubicBezTo>
                <a:cubicBezTo>
                  <a:pt x="6096002" y="4741056"/>
                  <a:pt x="5656533" y="5928900"/>
                  <a:pt x="4946007" y="6788730"/>
                </a:cubicBezTo>
                <a:lnTo>
                  <a:pt x="4885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9" name="Freeform: Shape 28">
            <a:extLst>
              <a:ext uri="{FF2B5EF4-FFF2-40B4-BE49-F238E27FC236}">
                <a16:creationId xmlns:a16="http://schemas.microsoft.com/office/drawing/2014/main" id="{A9682493-588A-4D52-98F6-FBBD80C07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85370" cy="6858000"/>
          </a:xfrm>
          <a:custGeom>
            <a:avLst/>
            <a:gdLst>
              <a:gd name="connsiteX0" fmla="*/ 0 w 6085370"/>
              <a:gd name="connsiteY0" fmla="*/ 0 h 6858000"/>
              <a:gd name="connsiteX1" fmla="*/ 4875335 w 6085370"/>
              <a:gd name="connsiteY1" fmla="*/ 0 h 6858000"/>
              <a:gd name="connsiteX2" fmla="*/ 4935375 w 6085370"/>
              <a:gd name="connsiteY2" fmla="*/ 69271 h 6858000"/>
              <a:gd name="connsiteX3" fmla="*/ 6085370 w 6085370"/>
              <a:gd name="connsiteY3" fmla="*/ 3429000 h 6858000"/>
              <a:gd name="connsiteX4" fmla="*/ 4935375 w 6085370"/>
              <a:gd name="connsiteY4" fmla="*/ 6788730 h 6858000"/>
              <a:gd name="connsiteX5" fmla="*/ 4875335 w 6085370"/>
              <a:gd name="connsiteY5" fmla="*/ 6858000 h 6858000"/>
              <a:gd name="connsiteX6" fmla="*/ 0 w 6085370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85370" h="6858000">
                <a:moveTo>
                  <a:pt x="0" y="0"/>
                </a:moveTo>
                <a:lnTo>
                  <a:pt x="4875335" y="0"/>
                </a:lnTo>
                <a:lnTo>
                  <a:pt x="4935375" y="69271"/>
                </a:lnTo>
                <a:cubicBezTo>
                  <a:pt x="5645901" y="929100"/>
                  <a:pt x="6085370" y="2116944"/>
                  <a:pt x="6085370" y="3429000"/>
                </a:cubicBezTo>
                <a:cubicBezTo>
                  <a:pt x="6085370" y="4741056"/>
                  <a:pt x="5645901" y="5928900"/>
                  <a:pt x="4935375" y="6788730"/>
                </a:cubicBezTo>
                <a:lnTo>
                  <a:pt x="4875335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594546AE-DE4A-3F2E-D453-56C3895CD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913" y="859536"/>
            <a:ext cx="4832802" cy="1170432"/>
          </a:xfrm>
        </p:spPr>
        <p:txBody>
          <a:bodyPr anchor="b">
            <a:normAutofit/>
          </a:bodyPr>
          <a:lstStyle/>
          <a:p>
            <a:r>
              <a:rPr lang="en-US" altLang="zh-CN" sz="3400" b="1" dirty="0"/>
              <a:t>Challenges</a:t>
            </a:r>
            <a:endParaRPr lang="zh-CN" altLang="en-US" sz="3400" b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BEC5A7A-ADE4-48D9-B89C-2BA1C9110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03236" y="36338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2095FCE-EF05-4443-B97A-85DEE3A5CA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492" y="2185062"/>
            <a:ext cx="49377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265493A-D8BB-4358-DFAA-1802ED5671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912" y="2512611"/>
            <a:ext cx="4832803" cy="3664351"/>
          </a:xfrm>
        </p:spPr>
        <p:txBody>
          <a:bodyPr>
            <a:normAutofit/>
          </a:bodyPr>
          <a:lstStyle/>
          <a:p>
            <a:r>
              <a:rPr lang="en-US" altLang="zh-CN" sz="1800" b="1" dirty="0"/>
              <a:t>Getting reliable climate data from the NOAA API</a:t>
            </a:r>
          </a:p>
          <a:p>
            <a:r>
              <a:rPr lang="en-US" altLang="zh-CN" sz="1800" b="1" dirty="0"/>
              <a:t>Frequent 400 (Bad Request) Errors</a:t>
            </a:r>
          </a:p>
          <a:p>
            <a:r>
              <a:rPr lang="en-US" altLang="zh-CN" sz="1800" b="1" dirty="0"/>
              <a:t>NOAA API Limitations Not Documented Clearly</a:t>
            </a:r>
          </a:p>
          <a:p>
            <a:endParaRPr lang="en-US" sz="1800" b="1" dirty="0"/>
          </a:p>
          <a:p>
            <a:r>
              <a:rPr lang="en-US" sz="1800" b="1" dirty="0"/>
              <a:t>Instead of trying to download all climate data at once, I rewrote the function, so it requests each station individually, catching failures without stopping the whole program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41FD397-F4F2-AC3F-CA03-63CD13FF67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6593" y="4190999"/>
            <a:ext cx="5138928" cy="2312517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7413FA68-EB4E-D165-4FE8-D806EBC4B4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5049132" y="1393457"/>
            <a:ext cx="6703955" cy="1583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2281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A0C16-ADFE-B9F5-5AB0-7628EF5D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77AA7A-A328-D169-8FCB-8C5C60B88F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312066"/>
            <a:ext cx="9144000" cy="2387600"/>
          </a:xfrm>
        </p:spPr>
        <p:txBody>
          <a:bodyPr>
            <a:normAutofit/>
          </a:bodyPr>
          <a:lstStyle/>
          <a:p>
            <a:r>
              <a:rPr lang="en-US" altLang="zh-CN" b="1" dirty="0"/>
              <a:t>Thank you &amp; Questions</a:t>
            </a:r>
            <a:br>
              <a:rPr lang="en-US" altLang="zh-CN" b="1" dirty="0"/>
            </a:b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33785532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362</TotalTime>
  <Words>850</Words>
  <Application>Microsoft Office PowerPoint</Application>
  <PresentationFormat>宽屏</PresentationFormat>
  <Paragraphs>87</Paragraphs>
  <Slides>12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7" baseType="lpstr">
      <vt:lpstr>等线</vt:lpstr>
      <vt:lpstr>等线 Light</vt:lpstr>
      <vt:lpstr>Arial</vt:lpstr>
      <vt:lpstr>Calibri</vt:lpstr>
      <vt:lpstr>Office 主题​​</vt:lpstr>
      <vt:lpstr>How Climate Change Affects U.S. Corn and Wheat Yields </vt:lpstr>
      <vt:lpstr>Introduction</vt:lpstr>
      <vt:lpstr>Data Sources Date Range: 2015/01/01- 2024-12-31</vt:lpstr>
      <vt:lpstr>Temperature Trends Across States (2015–2024)</vt:lpstr>
      <vt:lpstr>Precipitation Trends (2015–2024)</vt:lpstr>
      <vt:lpstr>Effect of Temperature on Corn Yields (per state)</vt:lpstr>
      <vt:lpstr>Effect of Temperature on Wheat Yields (per state)</vt:lpstr>
      <vt:lpstr>Effect of Precipitation on Corn Yields (per state)</vt:lpstr>
      <vt:lpstr>Effect of Precipitation on Wheat Yields (per state)</vt:lpstr>
      <vt:lpstr>Heatmap</vt:lpstr>
      <vt:lpstr>Challenges</vt:lpstr>
      <vt:lpstr>Thank you &amp; Questions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yilong Xu</dc:creator>
  <cp:lastModifiedBy>yilong Xu</cp:lastModifiedBy>
  <cp:revision>13</cp:revision>
  <dcterms:created xsi:type="dcterms:W3CDTF">2025-11-25T08:17:38Z</dcterms:created>
  <dcterms:modified xsi:type="dcterms:W3CDTF">2025-12-06T18:13:13Z</dcterms:modified>
</cp:coreProperties>
</file>