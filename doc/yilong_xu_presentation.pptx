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6BC"/>
    <a:srgbClr val="279E27"/>
    <a:srgbClr val="FF7C09"/>
    <a:srgbClr val="1E76B4"/>
    <a:srgbClr val="D52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127" autoAdjust="0"/>
  </p:normalViewPr>
  <p:slideViewPr>
    <p:cSldViewPr snapToGrid="0">
      <p:cViewPr varScale="1">
        <p:scale>
          <a:sx n="90" d="100"/>
          <a:sy n="9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F2B7B-EB9E-45D2-BD9E-75F14DE39450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15603-6302-462E-8E91-DFD805EE57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53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385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254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9870-783B-30A2-F13D-4F0A2862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FD2DDE-E5B1-4B51-3D06-78579C197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65DEAC-6ABE-BB0D-30A0-D5DDACE04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08D37-A5EB-E109-38CE-59365826C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54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F41A-1243-4552-DA0E-D78FEF06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8EE350-6AF6-A07B-9AD1-187A5067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138D0E-061E-94D1-3616-88DB32D80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160039-D28A-640A-399B-9A6E57055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97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8F430-42E7-FF21-D448-61647AD0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21EBE1-FEE0-36BF-14B6-319FFA001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E1D7E5-8EAE-DD70-9557-052615D6D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B4088-E44D-9644-1AA5-EAA37C9F6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710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1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15603-6302-462E-8E91-DFD805EE57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07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80EE3-3DB1-5F63-9A96-A0FA89105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3C5506-CF28-3858-EB94-F13144AC6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638EA-30F6-B270-4230-96AC0E16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F287B-3C40-281C-C30E-280CD8E1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2E5DF2-3F5A-5F7F-B4B8-1467311F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31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15459-0891-E818-D8EE-E0376882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C6907-7D24-CFDE-2996-A0141A0D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DE6D39-A0CF-B964-732B-6C5A2831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6DEE0-D2FB-2F3B-0C48-52CFDC43F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21A11F-EEFB-8D09-254C-E578EE09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4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C6B51-8953-0E29-F534-985D8A067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D7468A-1442-21C3-2219-BE089E6B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B89E32-678A-6EBB-9FA2-7D2270E02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8B722-178C-9EF6-6648-D7F67081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9E25C1-5357-5EE9-1C92-A7B08138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8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9CFD6-4B4E-4EC2-506D-F10E60AE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2A9A1-0D6A-6339-426F-32B758916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D7EAF-C92E-D4D8-C43F-27466A109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4FE6EA-4207-14FD-7002-470A69F9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39F4F-D3A4-8E02-D3A9-9029A933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4A9100-7479-BC57-1CBF-EC193C23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2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8676E-2472-D5B2-9236-45CA7285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F786B7-50CE-98A6-9A12-460F92296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59604D-94F6-4327-1BB7-68FA31A70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F33738-0BEB-8E2A-4DED-7131F9C1E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1B094C-144F-3C48-01D3-C3A5D705F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26C007-7E90-2E81-EFBA-C5FD424F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B4B219-100C-82E1-DFB8-60053C90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017F63-699E-B3D5-C075-EB8A2B77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7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56685-BF70-43D3-75A4-9077B662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5E087A-786D-13F4-57D9-B062CAF9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816EB2-56E5-F866-0EDE-578C692B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233BFC-6B40-7B94-019A-FA0B72215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9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86E97A-41C2-DE4E-E343-48BC1F17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11F5FD-E7DF-8B94-5F18-EA6A2259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2D6CE-14E6-455F-6C3D-0CEA178C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46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A53CB-C534-4B46-60F6-86617499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26706-0D3A-4D1F-0F5B-BFB3C6A12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C27679-8E70-75B0-F047-19749F5CC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2B4414-9E50-D71E-89EC-97067367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82A98-ED45-51FF-13B3-8EFC1B93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85570-EA1B-C93D-EBAB-5B515B55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49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07C7C-BC5B-B0FB-2B38-C6762238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1E63AD-830A-D831-E446-1A2A641A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DD9DA-5300-D4F6-E076-BFB38C457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05A4EA-405A-A923-B8DF-1D7A237D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C71133-2EFC-6038-420F-4312FC8B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6D243-0978-9BF5-4B15-F7721037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43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FED0-5D77-3BBC-2CE8-BAF688D0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3CF786-CBC2-FAD3-7E13-7BDA08FD5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85066-939F-2C22-4359-573C98B8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9CE3F-1492-3D9B-DA7A-448288B4D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AE430F-123E-15C7-0341-F32670AE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26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1FF840-5C26-5F2D-6588-97D8D69EB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59E8D6-3F1B-1A11-8EFB-BB977D23A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F0560-694D-7E9F-64CA-FCEEB5E6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E754B-9382-BDD3-E952-5207A13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5A106-E9DA-BF27-4B57-52763018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7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CCD612-9B87-43FB-E0BB-F6004595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93404A-D084-935C-4CB2-3EA4FABA7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5E199-071A-B05D-66C3-5F6D3AA58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8167B-1E00-487E-BB0D-11FC18BEAF23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0CBEA-DE35-AB9A-303C-093588D1C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CF68B-44BC-A2B8-241D-7291265B4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85F7-C6CE-4EA6-9F9C-17C3643A77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35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ilongxu-usc/dsci510_fall2025_final_projec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9C16B-6D08-0721-D0A6-58D624CFE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How Climate Change Affects U.S. Corn and Wheat Yields</a:t>
            </a: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EDFDE-CD88-BA3D-C2C1-6D07516AC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dirty="0"/>
              <a:t>Yilong Xu</a:t>
            </a:r>
          </a:p>
          <a:p>
            <a:endParaRPr lang="en-US" altLang="zh-CN" b="1" dirty="0"/>
          </a:p>
          <a:p>
            <a:r>
              <a:rPr lang="en-US" altLang="zh-CN" b="1" dirty="0">
                <a:hlinkClick r:id="rId2"/>
              </a:rPr>
              <a:t>https://github.com/yilongxu-usc/dsci510_fall2025_final_project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04531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B7594-36AA-ED27-7E56-2FA0469F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7453B9-643F-2A47-1CAE-8CA7E48D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593" y="222858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CN" sz="5400" b="1" dirty="0"/>
              <a:t>Introduction</a:t>
            </a:r>
            <a:endParaRPr lang="zh-CN" altLang="en-US" sz="5400" b="1" dirty="0"/>
          </a:p>
        </p:txBody>
      </p:sp>
      <p:pic>
        <p:nvPicPr>
          <p:cNvPr id="75" name="Picture 74" descr="天空下的金色小麦">
            <a:extLst>
              <a:ext uri="{FF2B5EF4-FFF2-40B4-BE49-F238E27FC236}">
                <a16:creationId xmlns:a16="http://schemas.microsoft.com/office/drawing/2014/main" id="{F7A28FB0-546A-9F78-AA02-E94A12B4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95" r="32973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ontent Placeholder 8">
            <a:extLst>
              <a:ext uri="{FF2B5EF4-FFF2-40B4-BE49-F238E27FC236}">
                <a16:creationId xmlns:a16="http://schemas.microsoft.com/office/drawing/2014/main" id="{CC64E247-12F4-CDB5-9709-B18680C1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593" y="2424223"/>
            <a:ext cx="6251110" cy="3659939"/>
          </a:xfrm>
        </p:spPr>
        <p:txBody>
          <a:bodyPr>
            <a:noAutofit/>
          </a:bodyPr>
          <a:lstStyle/>
          <a:p>
            <a:r>
              <a:rPr lang="en-US" altLang="zh-CN" sz="1600" b="1" dirty="0"/>
              <a:t>Project Goal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To examine how temperature and precipitation relate to corn and wheat yields across different U.S. states from 1970–2024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Key Questions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1"/>
            <a:r>
              <a:rPr lang="en-US" altLang="zh-CN" sz="1600" b="1" dirty="0"/>
              <a:t>Do corn and wheat respond differently to temperature and precipitation?</a:t>
            </a:r>
          </a:p>
          <a:p>
            <a:pPr lvl="1"/>
            <a:r>
              <a:rPr lang="en-US" altLang="zh-CN" sz="1600" b="1" dirty="0"/>
              <a:t>Are climate–yield relationships consistent across states, or highly regional?</a:t>
            </a:r>
          </a:p>
          <a:p>
            <a:pPr lvl="1"/>
            <a:r>
              <a:rPr lang="en-US" altLang="zh-CN" sz="1600" b="1" dirty="0"/>
              <a:t>Which climate variable appears more influential on crop yield?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Approach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Integrating USDA crop yield data with NOAA climate records and apply correlation, regression, and trend analysis at the state level</a:t>
            </a:r>
          </a:p>
        </p:txBody>
      </p:sp>
    </p:spTree>
    <p:extLst>
      <p:ext uri="{BB962C8B-B14F-4D97-AF65-F5344CB8AC3E}">
        <p14:creationId xmlns:p14="http://schemas.microsoft.com/office/powerpoint/2010/main" val="207947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4090B-3E7E-3C81-C782-4C8CC210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b="1" dirty="0"/>
              <a:t>Data Sources</a:t>
            </a:r>
            <a:br>
              <a:rPr lang="en-US" altLang="zh-CN" b="1" dirty="0"/>
            </a:br>
            <a:r>
              <a:rPr lang="en-US" altLang="zh-CN" sz="1800" b="1" dirty="0"/>
              <a:t>Date Range: 1970/01/01- 2024-12-31</a:t>
            </a:r>
            <a:endParaRPr lang="zh-CN" altLang="en-US" sz="1800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2D77B2F-AD72-FC33-61CE-378DB5849D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53556"/>
              </p:ext>
            </p:extLst>
          </p:nvPr>
        </p:nvGraphicFramePr>
        <p:xfrm>
          <a:off x="838200" y="1910292"/>
          <a:ext cx="10515600" cy="4653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85312875"/>
                    </a:ext>
                  </a:extLst>
                </a:gridCol>
                <a:gridCol w="3876169">
                  <a:extLst>
                    <a:ext uri="{9D8B030D-6E8A-4147-A177-3AD203B41FA5}">
                      <a16:colId xmlns:a16="http://schemas.microsoft.com/office/drawing/2014/main" val="291762609"/>
                    </a:ext>
                  </a:extLst>
                </a:gridCol>
                <a:gridCol w="1134319">
                  <a:extLst>
                    <a:ext uri="{9D8B030D-6E8A-4147-A177-3AD203B41FA5}">
                      <a16:colId xmlns:a16="http://schemas.microsoft.com/office/drawing/2014/main" val="742852768"/>
                    </a:ext>
                  </a:extLst>
                </a:gridCol>
                <a:gridCol w="1851949">
                  <a:extLst>
                    <a:ext uri="{9D8B030D-6E8A-4147-A177-3AD203B41FA5}">
                      <a16:colId xmlns:a16="http://schemas.microsoft.com/office/drawing/2014/main" val="691318047"/>
                    </a:ext>
                  </a:extLst>
                </a:gridCol>
                <a:gridCol w="1550043">
                  <a:extLst>
                    <a:ext uri="{9D8B030D-6E8A-4147-A177-3AD203B41FA5}">
                      <a16:colId xmlns:a16="http://schemas.microsoft.com/office/drawing/2014/main" val="2886645305"/>
                    </a:ext>
                  </a:extLst>
                </a:gridCol>
              </a:tblGrid>
              <a:tr h="681278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Description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Type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Format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Data Size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451797"/>
                  </a:ext>
                </a:extLst>
              </a:tr>
              <a:tr h="1300435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Corn Yield Data,</a:t>
                      </a:r>
                    </a:p>
                    <a:p>
                      <a:r>
                        <a:rPr lang="en-US" altLang="zh-CN" sz="1400" b="1" dirty="0"/>
                        <a:t>USDA NASS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Provides annual corn yield (bushels per acre) for U.S. states.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Shows how corn productivity varies geographically and how yields change over time</a:t>
                      </a:r>
                      <a:endParaRPr lang="zh-CN" alt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altLang="zh-CN" sz="1400" b="1" dirty="0"/>
                        <a:t>API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HTML response &gt; </a:t>
                      </a:r>
                      <a:r>
                        <a:rPr lang="en-US" altLang="zh-CN" sz="1400" b="1" dirty="0" err="1"/>
                        <a:t>json</a:t>
                      </a:r>
                      <a:r>
                        <a:rPr lang="en-US" altLang="zh-CN" sz="1400" b="1" dirty="0"/>
                        <a:t> &gt; CSV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13000+ rows,</a:t>
                      </a:r>
                    </a:p>
                    <a:p>
                      <a:r>
                        <a:rPr lang="en-US" altLang="zh-CN" sz="1400" b="1" dirty="0"/>
                        <a:t>3 columns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00628"/>
                  </a:ext>
                </a:extLst>
              </a:tr>
              <a:tr h="1300435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Wheat Yield Data,</a:t>
                      </a:r>
                    </a:p>
                    <a:p>
                      <a:r>
                        <a:rPr lang="en-US" altLang="zh-CN" sz="1400" b="1" dirty="0"/>
                        <a:t>USDA NASS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Contains annual wheat yield statistics for U.S. states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Works together with corn yield data to provide two independent agricultural indicators</a:t>
                      </a:r>
                      <a:endParaRPr lang="zh-CN" altLang="en-US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/>
                        <a:t>HTML response &gt; </a:t>
                      </a:r>
                      <a:r>
                        <a:rPr lang="en-US" altLang="zh-CN" sz="1400" b="1" dirty="0" err="1"/>
                        <a:t>json</a:t>
                      </a:r>
                      <a:r>
                        <a:rPr lang="en-US" altLang="zh-CN" sz="1400" b="1" dirty="0"/>
                        <a:t> &gt; CSV</a:t>
                      </a:r>
                      <a:endParaRPr lang="zh-CN" altLang="en-US" sz="1400" b="1" dirty="0"/>
                    </a:p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22000+ rows,</a:t>
                      </a:r>
                    </a:p>
                    <a:p>
                      <a:r>
                        <a:rPr lang="en-US" altLang="zh-CN" sz="1400" b="1" dirty="0"/>
                        <a:t>3 columns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520423"/>
                  </a:ext>
                </a:extLst>
              </a:tr>
              <a:tr h="1300435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Monthly temperature and </a:t>
                      </a:r>
                      <a:r>
                        <a:rPr lang="en-US" altLang="zh-CN" sz="1400" b="1" dirty="0" err="1"/>
                        <a:t>precipitaion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Provides monthly average temperature (TAVG) and total precipitation (PRCP) for multiple U.S. climate stations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dirty="0"/>
                        <a:t>Used to compute annual climate metrics (mean temperature, accumulated precipitation) matched by state</a:t>
                      </a:r>
                      <a:endParaRPr lang="zh-CN" altLang="en-US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/>
                        <a:t>HTML response &gt; </a:t>
                      </a:r>
                      <a:r>
                        <a:rPr lang="en-US" altLang="zh-CN" sz="1400" b="1" dirty="0" err="1"/>
                        <a:t>json</a:t>
                      </a:r>
                      <a:r>
                        <a:rPr lang="en-US" altLang="zh-CN" sz="1400" b="1" dirty="0"/>
                        <a:t> &gt; CSV</a:t>
                      </a:r>
                      <a:endParaRPr lang="zh-CN" altLang="en-US" sz="1400" b="1" dirty="0"/>
                    </a:p>
                    <a:p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6000+ rows, </a:t>
                      </a:r>
                    </a:p>
                    <a:p>
                      <a:r>
                        <a:rPr lang="en-US" altLang="zh-CN" sz="1400" b="1" dirty="0"/>
                        <a:t>7 columns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1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043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1BCAA0B-CF18-72AF-7680-90EB10806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" r="1195"/>
          <a:stretch/>
        </p:blipFill>
        <p:spPr>
          <a:xfrm>
            <a:off x="-377725" y="1673692"/>
            <a:ext cx="7974957" cy="4902097"/>
          </a:xfrm>
          <a:prstGeom prst="rect">
            <a:avLst/>
          </a:prstGeom>
        </p:spPr>
      </p:pic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Content Placeholder 8">
            <a:extLst>
              <a:ext uri="{FF2B5EF4-FFF2-40B4-BE49-F238E27FC236}">
                <a16:creationId xmlns:a16="http://schemas.microsoft.com/office/drawing/2014/main" id="{C31F431C-1E00-2F65-483D-D47487BA3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3061" y="2018805"/>
            <a:ext cx="5248940" cy="4477688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800" b="1" dirty="0"/>
              <a:t>All five states exhibit a clear long-term warming trend from 1970 to 2024, although the rate and magnitude differ by state.</a:t>
            </a:r>
          </a:p>
          <a:p>
            <a:r>
              <a:rPr lang="en-US" sz="1800" b="1" dirty="0">
                <a:solidFill>
                  <a:srgbClr val="D52425"/>
                </a:solidFill>
              </a:rPr>
              <a:t>Texas</a:t>
            </a:r>
            <a:r>
              <a:rPr lang="en-US" sz="1800" b="1" dirty="0"/>
              <a:t> consistently records the highest average temperatures, remaining well above other states throughout the entire period and showing a persistent upward trend, especially after the late 1990s</a:t>
            </a:r>
          </a:p>
          <a:p>
            <a:r>
              <a:rPr lang="en-US" altLang="zh-CN" sz="1800" b="1" dirty="0">
                <a:solidFill>
                  <a:srgbClr val="1E76B4"/>
                </a:solidFill>
              </a:rPr>
              <a:t>California</a:t>
            </a:r>
            <a:r>
              <a:rPr lang="en-US" altLang="zh-CN" sz="1800" b="1" dirty="0"/>
              <a:t> also shows sustained warming, with relatively high average temperatures compared to northern states and a noticeable increase since the 1980s, though with some mid-period variability</a:t>
            </a:r>
          </a:p>
          <a:p>
            <a:r>
              <a:rPr lang="en-US" sz="1800" b="1" dirty="0">
                <a:solidFill>
                  <a:srgbClr val="FF7C09"/>
                </a:solidFill>
              </a:rPr>
              <a:t>Illinois</a:t>
            </a:r>
            <a:r>
              <a:rPr lang="en-US" sz="1800" b="1" dirty="0"/>
              <a:t> and </a:t>
            </a:r>
            <a:r>
              <a:rPr lang="en-US" sz="1800" b="1" dirty="0">
                <a:solidFill>
                  <a:srgbClr val="279E27"/>
                </a:solidFill>
              </a:rPr>
              <a:t>New York </a:t>
            </a:r>
            <a:r>
              <a:rPr lang="en-US" sz="1800" b="1" dirty="0"/>
              <a:t>remain cooler overall, but both display gradual warming over time, with more pronounced increases in the most recent decades (post-2000)</a:t>
            </a:r>
          </a:p>
          <a:p>
            <a:r>
              <a:rPr lang="en-US" sz="1800" b="1" dirty="0">
                <a:solidFill>
                  <a:srgbClr val="9366BC"/>
                </a:solidFill>
              </a:rPr>
              <a:t>Utah</a:t>
            </a:r>
            <a:r>
              <a:rPr lang="en-US" sz="1800" b="1" dirty="0"/>
              <a:t> demonstrates the greatest year-to-year variability, with sharper short-term fluctuations around its warming trend, suggesting higher climate variability relative to the other states</a:t>
            </a:r>
          </a:p>
          <a:p>
            <a:r>
              <a:rPr lang="en-US" sz="1800" b="1" dirty="0"/>
              <a:t>The warming signal becomes more pronounced after 2000, indicating accelerated temperature increases across most states in the last two decades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6C6A38-E479-B4A3-0F07-8FF380F7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Temperature Trends Across States (1970–2024)</a:t>
            </a:r>
            <a:endParaRPr lang="zh-CN" altLang="en-US" sz="3600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88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7CD92A-998D-AE7B-1926-EB6636096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" r="1195"/>
          <a:stretch/>
        </p:blipFill>
        <p:spPr>
          <a:xfrm>
            <a:off x="-217007" y="1861193"/>
            <a:ext cx="8159528" cy="5015551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EB2D97-5A62-9D26-E28C-58576746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Precipitation Trends (1970–2024)</a:t>
            </a:r>
            <a:endParaRPr lang="zh-CN" altLang="en-US" sz="3600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C6B0D5-6EC7-F153-A3B9-CA51F9E69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243" y="2405112"/>
            <a:ext cx="4848446" cy="4144544"/>
          </a:xfrm>
        </p:spPr>
        <p:txBody>
          <a:bodyPr anchor="ctr">
            <a:normAutofit fontScale="92500" lnSpcReduction="20000"/>
          </a:bodyPr>
          <a:lstStyle/>
          <a:p>
            <a:r>
              <a:rPr lang="en-US" altLang="zh-CN" sz="1400" b="1" dirty="0"/>
              <a:t>Total precipitation exhibits substantial year-to-year variability across all five states, with no smooth or uniform long-term trend comparable to temperature</a:t>
            </a:r>
          </a:p>
          <a:p>
            <a:r>
              <a:rPr lang="en-US" altLang="zh-CN" sz="1400" b="1" dirty="0">
                <a:solidFill>
                  <a:srgbClr val="279E27"/>
                </a:solidFill>
              </a:rPr>
              <a:t>New York </a:t>
            </a:r>
            <a:r>
              <a:rPr lang="en-US" altLang="zh-CN" sz="1400" b="1" dirty="0"/>
              <a:t>and </a:t>
            </a:r>
            <a:r>
              <a:rPr lang="en-US" altLang="zh-CN" sz="1400" b="1" dirty="0">
                <a:solidFill>
                  <a:srgbClr val="D52425"/>
                </a:solidFill>
              </a:rPr>
              <a:t>Texas</a:t>
            </a:r>
            <a:r>
              <a:rPr lang="en-US" altLang="zh-CN" sz="1400" b="1" dirty="0"/>
              <a:t> generally experience higher annual precipitation totals, frequently exceeding other states, but both also show pronounced fluctuations, including occasional extreme wet years.</a:t>
            </a:r>
          </a:p>
          <a:p>
            <a:r>
              <a:rPr lang="en-US" altLang="zh-CN" sz="1400" b="1" dirty="0">
                <a:solidFill>
                  <a:srgbClr val="FF7C09"/>
                </a:solidFill>
              </a:rPr>
              <a:t>Illinois</a:t>
            </a:r>
            <a:r>
              <a:rPr lang="en-US" altLang="zh-CN" sz="1400" b="1" dirty="0"/>
              <a:t> displays moderate precipitation levels with noticeable interannual variability, but without a clear long-term increasing or decreasing trend across the full period</a:t>
            </a:r>
          </a:p>
          <a:p>
            <a:r>
              <a:rPr lang="en-US" altLang="zh-CN" sz="1400" b="1" dirty="0">
                <a:solidFill>
                  <a:srgbClr val="1E76B4"/>
                </a:solidFill>
              </a:rPr>
              <a:t>California</a:t>
            </a:r>
            <a:r>
              <a:rPr lang="en-US" altLang="zh-CN" sz="1400" b="1" dirty="0"/>
              <a:t> remains consistently the driest state, with lower total precipitation values throughout the time series and sharp fluctuations that highlight its sensitivity to wet and dry years</a:t>
            </a:r>
          </a:p>
          <a:p>
            <a:r>
              <a:rPr lang="en-US" altLang="zh-CN" sz="1400" b="1" dirty="0">
                <a:solidFill>
                  <a:srgbClr val="9366BC"/>
                </a:solidFill>
              </a:rPr>
              <a:t>Utah</a:t>
            </a:r>
            <a:r>
              <a:rPr lang="en-US" altLang="zh-CN" sz="1400" b="1" dirty="0"/>
              <a:t> records relatively low to moderate precipitation, with pronounced variability but no persistent long-term trend, suggesting precipitation changes are dominated by short-term climate variability rather than gradual shifts</a:t>
            </a:r>
          </a:p>
          <a:p>
            <a:r>
              <a:rPr lang="en-US" altLang="zh-CN" sz="1400" b="1" dirty="0"/>
              <a:t>Compared to temperature trends, precipitation patterns are more irregular and episodic, indicating weaker long-term signals and stronger influence of year-specific climate conditions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4461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A9129A-C204-2C6D-59DA-B077B8E3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1">
            <a:extLst>
              <a:ext uri="{FF2B5EF4-FFF2-40B4-BE49-F238E27FC236}">
                <a16:creationId xmlns:a16="http://schemas.microsoft.com/office/drawing/2014/main" id="{E73BBE33-B533-4661-8A6A-6BD8D05EB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AD60CE1-F63A-A8FC-A2CD-9E94EB912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0" y="3767891"/>
            <a:ext cx="3703413" cy="2778133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6596321F-CAF6-AC06-62D8-3D4D8F22C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" b="1777"/>
          <a:stretch/>
        </p:blipFill>
        <p:spPr>
          <a:xfrm>
            <a:off x="3757048" y="788552"/>
            <a:ext cx="3811271" cy="275688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3E159A7-91EC-2523-1836-EACF68AD3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/>
        </p:blipFill>
        <p:spPr>
          <a:xfrm>
            <a:off x="7752459" y="3862123"/>
            <a:ext cx="3827807" cy="27781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5E15CCD-1C8D-C225-D0E6-09876BD6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58427"/>
            <a:ext cx="12192001" cy="5283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 of Temperature on Corn Yields (per state)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8E6FFA-F2CD-F47D-70D0-849914FE4AFC}"/>
              </a:ext>
            </a:extLst>
          </p:cNvPr>
          <p:cNvSpPr txBox="1"/>
          <p:nvPr/>
        </p:nvSpPr>
        <p:spPr>
          <a:xfrm>
            <a:off x="7890298" y="1485785"/>
            <a:ext cx="35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Each point represents a state-level annual observation, pairing average temperature with corn yield for that year</a:t>
            </a:r>
            <a:endParaRPr lang="zh-CN" altLang="en-US" sz="1400" b="1" dirty="0"/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F32B6FD3-BBC9-322F-37A5-6057F764CA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8" y="788552"/>
            <a:ext cx="3703414" cy="2777561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F80C1B0B-39E2-B248-5F28-51B2ED6D2B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852" y="3747213"/>
            <a:ext cx="4010607" cy="30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3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546EF-9691-7DB2-507A-5E22CBE3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1C88F9-E440-45DE-A776-9609EB590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B07C03D-EEF1-E0E4-CC9F-767972B3D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43" y="880656"/>
            <a:ext cx="3709839" cy="278238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E17481C-1D84-DD59-3C49-F37FA9147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32591" y="3785516"/>
            <a:ext cx="3736695" cy="28025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0F2A4D-25E7-E60B-387B-2739EB7CE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800" y="3754576"/>
            <a:ext cx="3736694" cy="28025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6A51388-6AE5-95A7-C7D8-9F7B789855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5369" y="880656"/>
            <a:ext cx="3831892" cy="28739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2163C9-FE7B-F1EA-D514-CD8016A2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1" cy="5012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 of Temperature on Wheat Yields (per state)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48FACD-0B79-38D1-A451-F5965E7C96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6296" y="3779537"/>
            <a:ext cx="3736694" cy="28025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ED32FB-E338-A20A-0BAD-BA0C2F45A277}"/>
              </a:ext>
            </a:extLst>
          </p:cNvPr>
          <p:cNvSpPr txBox="1"/>
          <p:nvPr/>
        </p:nvSpPr>
        <p:spPr>
          <a:xfrm>
            <a:off x="7890298" y="1485785"/>
            <a:ext cx="35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Each point represents a state-level annual observation, pairing average temperature with wheat yield for that year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6591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F47F1-CDC3-EF4F-F09A-CB34EF12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3BBE33-B533-4661-8A6A-6BD8D05EB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4EEB18-C2AD-7E42-CB51-2F344EB8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" y="0"/>
            <a:ext cx="12150168" cy="5251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 of Precipitation on Corn Yields (per state)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BEC60C-319C-5F6F-3518-9CDC4DC42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" r="2152"/>
          <a:stretch/>
        </p:blipFill>
        <p:spPr>
          <a:xfrm>
            <a:off x="38783" y="3629106"/>
            <a:ext cx="3671980" cy="28778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AB0C567-3439-F609-F862-5692FC9F3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" b="1777"/>
          <a:stretch/>
        </p:blipFill>
        <p:spPr>
          <a:xfrm>
            <a:off x="3646401" y="825639"/>
            <a:ext cx="3978467" cy="287782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C73AEB3-8276-133D-A7AA-2B15A26778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/>
        </p:blipFill>
        <p:spPr>
          <a:xfrm>
            <a:off x="38783" y="924995"/>
            <a:ext cx="3691372" cy="267911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DDEB4AA-0FE6-AC75-0BA0-3A8B6ADE26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7671" y="3629106"/>
            <a:ext cx="3914104" cy="293557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0EF470C-8A40-A347-5333-87CC8FE6A5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58682" y="3629107"/>
            <a:ext cx="3914104" cy="29355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82D0F6-6106-BE6C-E259-14439325F437}"/>
              </a:ext>
            </a:extLst>
          </p:cNvPr>
          <p:cNvSpPr txBox="1"/>
          <p:nvPr/>
        </p:nvSpPr>
        <p:spPr>
          <a:xfrm>
            <a:off x="7890298" y="1485785"/>
            <a:ext cx="35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Each point represents a state-level annual observation, pairing average precipitation with corn yield for that year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48569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67E35-CAC4-7561-97E7-2FADE85F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5C276-7A33-FBED-8644-4B8E886C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176"/>
            <a:ext cx="12192000" cy="6278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Effect of Precipitation on Wheat Yields (per state)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5EDE18-3071-C342-CB9C-BFC575A5A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" r="2152"/>
          <a:stretch/>
        </p:blipFill>
        <p:spPr>
          <a:xfrm>
            <a:off x="112427" y="3743579"/>
            <a:ext cx="3611122" cy="28301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30A873-0D69-3B81-0B8B-BF379377D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" b="1777"/>
          <a:stretch/>
        </p:blipFill>
        <p:spPr>
          <a:xfrm>
            <a:off x="3835046" y="861913"/>
            <a:ext cx="3757312" cy="27178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3E3D78E-41F0-892B-AB26-778EB2088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" b="1615"/>
          <a:stretch/>
        </p:blipFill>
        <p:spPr>
          <a:xfrm>
            <a:off x="0" y="849760"/>
            <a:ext cx="3882716" cy="28179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D739B62-96E3-FC33-C16F-C67D90B1D3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5046" y="3755723"/>
            <a:ext cx="3757311" cy="28179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52ABF4F-57D5-2F9E-31B6-64B8E3E8B3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965" y="3755723"/>
            <a:ext cx="3844792" cy="288359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0660A0D-AD55-4630-8899-F1BABF3806A5}"/>
              </a:ext>
            </a:extLst>
          </p:cNvPr>
          <p:cNvSpPr txBox="1"/>
          <p:nvPr/>
        </p:nvSpPr>
        <p:spPr>
          <a:xfrm>
            <a:off x="7890298" y="1485785"/>
            <a:ext cx="35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Each point represents a state-level annual observation, pairing average precipitation with corn wheat for that year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1548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5DECD4C-8063-7F7D-DB29-CA97D4C9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zh-CN" sz="3400" b="1" dirty="0"/>
              <a:t>Heatmap</a:t>
            </a:r>
            <a:endParaRPr lang="zh-CN" altLang="en-US" sz="34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99AF29-964C-5F82-5668-9B87F5571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03" y="2326826"/>
            <a:ext cx="4928850" cy="3891422"/>
          </a:xfrm>
        </p:spPr>
        <p:txBody>
          <a:bodyPr>
            <a:noAutofit/>
          </a:bodyPr>
          <a:lstStyle/>
          <a:p>
            <a:r>
              <a:rPr lang="en-US" sz="1400" b="1" dirty="0"/>
              <a:t>Corn and wheat yields are strongly positively correlated (r ≈ 0.76), indicating that years with higher corn yields tend to also have higher wheat yields across states.</a:t>
            </a:r>
          </a:p>
          <a:p>
            <a:r>
              <a:rPr lang="en-US" altLang="zh-CN" sz="1400" b="1" dirty="0"/>
              <a:t>Average temperature shows very weak correlations with both corn (r ≈ 0.08) and wheat yields (r ≈ −0.04), suggesting no strong linear relationship between temperature and crop yields at this aggregated scale.</a:t>
            </a:r>
          </a:p>
          <a:p>
            <a:r>
              <a:rPr lang="en-US" altLang="zh-CN" sz="1400" b="1" dirty="0"/>
              <a:t>Total precipitation is weakly negatively correlated with both corn (r ≈ −0.11) and wheat yields (r ≈ −0.22), indicating a slight tendency for higher precipitation to coincide with lower yields, though the relationship is modest.</a:t>
            </a:r>
          </a:p>
          <a:p>
            <a:r>
              <a:rPr lang="en-US" altLang="zh-CN" sz="1400" b="1" dirty="0"/>
              <a:t>Temperature and precipitation are weakly negatively correlated (r ≈ −0.21), implying that warmer years tend to be slightly drier, but the relationship is not strong</a:t>
            </a:r>
          </a:p>
          <a:p>
            <a:r>
              <a:rPr lang="en-US" altLang="zh-CN" sz="1400" b="1" dirty="0"/>
              <a:t>Overall, neither temperature nor precipitation alone is a strong predictor of crop yield, highlighting that crop performance is influenced by more complex interactions beyond simple annual climate averages</a:t>
            </a:r>
            <a:endParaRPr lang="en-US" sz="1400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59369AC-94C8-E8A1-3263-4FCF11ED5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352" y="568071"/>
            <a:ext cx="6903210" cy="59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6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42912-9D23-7A12-F743-CDE7BF77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4546AE-DE4A-3F2E-D453-56C3895CD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en-US" altLang="zh-CN" sz="3400" b="1" dirty="0"/>
              <a:t>Challenges</a:t>
            </a:r>
            <a:endParaRPr lang="zh-CN" altLang="en-US" sz="34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65493A-D8BB-4358-DFAA-1802ED567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altLang="zh-CN" sz="1800" b="1" dirty="0"/>
              <a:t>Getting reliable climate data from the NOAA API</a:t>
            </a:r>
          </a:p>
          <a:p>
            <a:r>
              <a:rPr lang="en-US" altLang="zh-CN" sz="1800" b="1" dirty="0"/>
              <a:t>Frequent 400 (Bad Request) Errors</a:t>
            </a:r>
          </a:p>
          <a:p>
            <a:r>
              <a:rPr lang="en-US" altLang="zh-CN" sz="1800" b="1" dirty="0"/>
              <a:t>NOAA API Limitations Not Documented Clearly</a:t>
            </a:r>
          </a:p>
          <a:p>
            <a:endParaRPr lang="en-US" sz="1800" b="1" dirty="0"/>
          </a:p>
          <a:p>
            <a:r>
              <a:rPr lang="en-US" sz="1800" b="1" dirty="0"/>
              <a:t>Instead of trying to download all climate data at once, I rewrote the function, so it requests each station individually, catching failures without stopping the whole program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1FD397-F4F2-AC3F-CA03-63CD13FF6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252" y="3188527"/>
            <a:ext cx="5138928" cy="23125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413FA68-EB4E-D165-4FE8-D806EBC4B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03252" y="1303895"/>
            <a:ext cx="6703955" cy="15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2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C16-ADFE-B9F5-5AB0-7628EF5D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7AA7A-A328-D169-8FCB-8C5C60B88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1206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b="1" dirty="0"/>
              <a:t>Thank you &amp; Questions</a:t>
            </a:r>
            <a:br>
              <a:rPr lang="en-US" altLang="zh-CN" b="1" dirty="0"/>
            </a:b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7855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936</Words>
  <Application>Microsoft Office PowerPoint</Application>
  <PresentationFormat>宽屏</PresentationFormat>
  <Paragraphs>82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Calibri</vt:lpstr>
      <vt:lpstr>Office 主题​​</vt:lpstr>
      <vt:lpstr>How Climate Change Affects U.S. Corn and Wheat Yields </vt:lpstr>
      <vt:lpstr>Introduction</vt:lpstr>
      <vt:lpstr>Data Sources Date Range: 1970/01/01- 2024-12-31</vt:lpstr>
      <vt:lpstr>Temperature Trends Across States (1970–2024)</vt:lpstr>
      <vt:lpstr>Precipitation Trends (1970–2024)</vt:lpstr>
      <vt:lpstr>Effect of Temperature on Corn Yields (per state)</vt:lpstr>
      <vt:lpstr>Effect of Temperature on Wheat Yields (per state)</vt:lpstr>
      <vt:lpstr>Effect of Precipitation on Corn Yields (per state)</vt:lpstr>
      <vt:lpstr>Effect of Precipitation on Wheat Yields (per state)</vt:lpstr>
      <vt:lpstr>Heatmap</vt:lpstr>
      <vt:lpstr>Challenges</vt:lpstr>
      <vt:lpstr>Thank you &amp;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yilong Xu</dc:creator>
  <cp:lastModifiedBy>yilong Xu</cp:lastModifiedBy>
  <cp:revision>18</cp:revision>
  <dcterms:created xsi:type="dcterms:W3CDTF">2025-11-25T08:17:38Z</dcterms:created>
  <dcterms:modified xsi:type="dcterms:W3CDTF">2025-12-07T03:33:40Z</dcterms:modified>
</cp:coreProperties>
</file>