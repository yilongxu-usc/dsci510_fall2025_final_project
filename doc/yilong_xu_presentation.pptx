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1" r:id="rId6"/>
    <p:sldId id="264" r:id="rId7"/>
    <p:sldId id="265" r:id="rId8"/>
    <p:sldId id="266" r:id="rId9"/>
    <p:sldId id="267" r:id="rId10"/>
    <p:sldId id="269" r:id="rId11"/>
    <p:sldId id="270" r:id="rId1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中度样式 2 - 强调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2127" autoAdjust="0"/>
  </p:normalViewPr>
  <p:slideViewPr>
    <p:cSldViewPr snapToGrid="0">
      <p:cViewPr varScale="1">
        <p:scale>
          <a:sx n="78" d="100"/>
          <a:sy n="78" d="100"/>
        </p:scale>
        <p:origin x="85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CF2B7B-EB9E-45D2-BD9E-75F14DE39450}" type="datetimeFigureOut">
              <a:rPr lang="zh-CN" altLang="en-US" smtClean="0"/>
              <a:t>2025/11/25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315603-6302-462E-8E91-DFD805EE574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25384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b="1" dirty="0"/>
              <a:t>California (CA): mild positive relationship, warmer years slightly increase corn yield.</a:t>
            </a:r>
          </a:p>
          <a:p>
            <a:r>
              <a:rPr lang="en-US" altLang="zh-CN" b="1" dirty="0"/>
              <a:t>Illinois (IL): weak or flat </a:t>
            </a:r>
            <a:r>
              <a:rPr lang="en-US" altLang="zh-CN" b="1" dirty="0" err="1"/>
              <a:t>trend,ideal</a:t>
            </a:r>
            <a:r>
              <a:rPr lang="en-US" altLang="zh-CN" b="1" dirty="0"/>
              <a:t> corn-growing climate makes yield less sensitive.</a:t>
            </a:r>
          </a:p>
          <a:p>
            <a:r>
              <a:rPr lang="en-US" altLang="zh-CN" b="1" dirty="0"/>
              <a:t>New York (NY): weak/slightly negative, temperature swings may hurt yield.</a:t>
            </a:r>
          </a:p>
          <a:p>
            <a:r>
              <a:rPr lang="en-US" altLang="zh-CN" b="1" dirty="0"/>
              <a:t>Texas (TX): </a:t>
            </a:r>
            <a:r>
              <a:rPr lang="en-US" altLang="zh-CN" b="1" i="1" dirty="0"/>
              <a:t>very weak</a:t>
            </a:r>
            <a:r>
              <a:rPr lang="en-US" altLang="zh-CN" b="1" dirty="0"/>
              <a:t> correlation, extreme heat does NOT help and may limit production.</a:t>
            </a:r>
          </a:p>
          <a:p>
            <a:r>
              <a:rPr lang="en-US" altLang="zh-CN" b="1" dirty="0"/>
              <a:t>Utah (UT): moderate positive trend, yield increases in warmer years.</a:t>
            </a:r>
          </a:p>
          <a:p>
            <a:endParaRPr lang="zh-CN" altLang="en-US" b="1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315603-6302-462E-8E91-DFD805EE5743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452544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BC9870-783B-30A2-F13D-4F0A2862C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3FD2DDE-E5B1-4B51-3D06-78579C1974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F65DEAC-6ABE-BB0D-30A0-D5DDACE04D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b="1" dirty="0"/>
              <a:t>CA, UT and TX: negative slop, hotter years reduce wheat yield</a:t>
            </a:r>
          </a:p>
          <a:p>
            <a:r>
              <a:rPr lang="en-US" altLang="zh-CN" b="1" dirty="0"/>
              <a:t>IL and NY: positive slope, warmer years increase wheat yield</a:t>
            </a:r>
          </a:p>
          <a:p>
            <a:r>
              <a:rPr lang="en-US" altLang="zh-CN" b="1" dirty="0"/>
              <a:t>Interpretation: Wheat tends to prefer cooler temp. When temp is moderately warm, yield increases. When heat becomes extreme, yield decreases.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BE08D37-A5EB-E109-38CE-59365826CC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315603-6302-462E-8E91-DFD805EE5743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045422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32F41A-1243-4552-DA0E-D78FEF060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48EE350-6AF6-A07B-9AD1-187A5067B4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2138D0E-061E-94D1-3616-88DB32D807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b="1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D160039-D28A-640A-399B-9A6E57055B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315603-6302-462E-8E91-DFD805EE5743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046977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8F430-42E7-FF21-D448-61647AD06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021EBE1-FEE0-36BF-14B6-319FFA0014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1E1D7E5-8EAE-DD70-9557-052615D6DF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b="1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22B4088-E44D-9644-1AA5-EAA37C9F6E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315603-6302-462E-8E91-DFD805EE5743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557108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315603-6302-462E-8E91-DFD805EE5743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30117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315603-6302-462E-8E91-DFD805EE5743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80717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9680EE3-3DB1-5F63-9A96-A0FA891050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F93C5506-CF28-3858-EB94-F13144AC67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34638EA-30F6-B270-4230-96AC0E1665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8167B-1E00-487E-BB0D-11FC18BEAF23}" type="datetimeFigureOut">
              <a:rPr lang="zh-CN" altLang="en-US" smtClean="0"/>
              <a:t>2025/11/25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75F287B-3C40-281C-C30E-280CD8E129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72E5DF2-3F5A-5F7F-B4B8-1467311FD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85F7-C6CE-4EA6-9F9C-17C3643A77C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463178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415459-0891-E818-D8EE-E03768823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1DC6907-7D24-CFDE-2996-A0141A0D7F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2DE6D39-A0CF-B964-732B-6C5A283133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8167B-1E00-487E-BB0D-11FC18BEAF23}" type="datetimeFigureOut">
              <a:rPr lang="zh-CN" altLang="en-US" smtClean="0"/>
              <a:t>2025/11/25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836DEE0-D2FB-2F3B-0C48-52CFDC43F1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021A11F-EEFB-8D09-254C-E578EE092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85F7-C6CE-4EA6-9F9C-17C3643A77C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404459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71C6B51-8953-0E29-F534-985D8A067A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2D7468A-1442-21C3-2219-BE089E6BFB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5B89E32-678A-6EBB-9FA2-7D2270E02E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8167B-1E00-487E-BB0D-11FC18BEAF23}" type="datetimeFigureOut">
              <a:rPr lang="zh-CN" altLang="en-US" smtClean="0"/>
              <a:t>2025/11/25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FF8B722-178C-9EF6-6648-D7F670813B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59E25C1-5357-5EE9-1C92-A7B081381F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85F7-C6CE-4EA6-9F9C-17C3643A77C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64810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F9CFD6-4B4E-4EC2-506D-F10E60AE3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592A9A1-0D6A-6339-426F-32B758916B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E6D7EAF-C92E-D4D8-C43F-27466A1099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F4FE6EA-4207-14FD-7002-470A69F986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8167B-1E00-487E-BB0D-11FC18BEAF23}" type="datetimeFigureOut">
              <a:rPr lang="zh-CN" altLang="en-US" smtClean="0"/>
              <a:t>2025/11/25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BF39F4F-D3A4-8E02-D3A9-9029A93311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04A9100-7479-BC57-1CBF-EC193C23A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85F7-C6CE-4EA6-9F9C-17C3643A77C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99205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F8676E-2472-D5B2-9236-45CA728566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9F786B7-50CE-98A6-9A12-460F922964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259604D-94F6-4327-1BB7-68FA31A70D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36F33738-0BEB-8E2A-4DED-7131F9C1E1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131B094C-144F-3C48-01D3-C3A5D705FA3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C026C007-7E90-2E81-EFBA-C5FD424F6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8167B-1E00-487E-BB0D-11FC18BEAF23}" type="datetimeFigureOut">
              <a:rPr lang="zh-CN" altLang="en-US" smtClean="0"/>
              <a:t>2025/11/25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A2B4B219-100C-82E1-DFB8-60053C908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5017F63-699E-B3D5-C075-EB8A2B774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85F7-C6CE-4EA6-9F9C-17C3643A77C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01779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3B56685-BF70-43D3-75A4-9077B662B5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C35E087A-786D-13F4-57D9-B062CAF9A0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8167B-1E00-487E-BB0D-11FC18BEAF23}" type="datetimeFigureOut">
              <a:rPr lang="zh-CN" altLang="en-US" smtClean="0"/>
              <a:t>2025/11/25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B8816EB2-56E5-F866-0EDE-578C692B05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F233BFC-6B40-7B94-019A-FA0B722156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85F7-C6CE-4EA6-9F9C-17C3643A77C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38980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AC86E97A-41C2-DE4E-E343-48BC1F17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8167B-1E00-487E-BB0D-11FC18BEAF23}" type="datetimeFigureOut">
              <a:rPr lang="zh-CN" altLang="en-US" smtClean="0"/>
              <a:t>2025/11/25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D611F5FD-E7DF-8B94-5F18-EA6A2259BE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572D6CE-14E6-455F-6C3D-0CEA178CD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85F7-C6CE-4EA6-9F9C-17C3643A77C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57463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2EA53CB-C534-4B46-60F6-86617499F4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C026706-0D3A-4D1F-0F5B-BFB3C6A126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DC27679-8E70-75B0-F047-19749F5CCB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D2B4414-9E50-D71E-89EC-970673679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8167B-1E00-487E-BB0D-11FC18BEAF23}" type="datetimeFigureOut">
              <a:rPr lang="zh-CN" altLang="en-US" smtClean="0"/>
              <a:t>2025/11/25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B582A98-ED45-51FF-13B3-8EFC1B93F1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7785570-EA1B-C93D-EBAB-5B515B552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85F7-C6CE-4EA6-9F9C-17C3643A77C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194902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DA07C7C-BC5B-B0FB-2B38-C6762238E5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A81E63AD-830A-D831-E446-1A2A641AA92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8CDD9DA-5300-D4F6-E076-BFB38C4571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905A4EA-405A-A923-B8DF-1D7A237D41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8167B-1E00-487E-BB0D-11FC18BEAF23}" type="datetimeFigureOut">
              <a:rPr lang="zh-CN" altLang="en-US" smtClean="0"/>
              <a:t>2025/11/25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1C71133-2EFC-6038-420F-4312FC8BA5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616D243-0978-9BF5-4B15-F77210375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85F7-C6CE-4EA6-9F9C-17C3643A77C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974333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7A0FED0-5D77-3BBC-2CE8-BAF688D0D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C3CF786-CBC2-FAD3-7E13-7BDA08FD5E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6285066-939F-2C22-4359-573C98B817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8167B-1E00-487E-BB0D-11FC18BEAF23}" type="datetimeFigureOut">
              <a:rPr lang="zh-CN" altLang="en-US" smtClean="0"/>
              <a:t>2025/11/25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C39CE3F-1492-3D9B-DA7A-448288B4D8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4AE430F-123E-15C7-0341-F32670AE4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85F7-C6CE-4EA6-9F9C-17C3643A77C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02687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D1FF840-5C26-5F2D-6588-97D8D69EB77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359E8D6-3F1B-1A11-8EFB-BB977D23A9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00F0560-694D-7E9F-64CA-FCEEB5E64C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8167B-1E00-487E-BB0D-11FC18BEAF23}" type="datetimeFigureOut">
              <a:rPr lang="zh-CN" altLang="en-US" smtClean="0"/>
              <a:t>2025/11/25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CEE754B-9382-BDD3-E952-5207A132F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EF5A106-E9DA-BF27-4B57-52763018A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85F7-C6CE-4EA6-9F9C-17C3643A77C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49784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ADCCD612-9B87-43FB-E0BB-F60045959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093404A-D084-935C-4CB2-3EA4FABA70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E35E199-071A-B05D-66C3-5F6D3AA580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F8167B-1E00-487E-BB0D-11FC18BEAF23}" type="datetimeFigureOut">
              <a:rPr lang="zh-CN" altLang="en-US" smtClean="0"/>
              <a:t>2025/11/25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A70CBEA-DE35-AB9A-303C-093588D1C9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DDCF68B-44BC-A2B8-241D-7291265B41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85F7-C6CE-4EA6-9F9C-17C3643A77C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203565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yilongxu-usc/dsci510_fall2025_final_projec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879C16B-6D08-0721-D0A6-58D624CFE53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CN" b="1" dirty="0"/>
              <a:t>How Climate Change Affects U.S. Corn and Wheat Yields</a:t>
            </a:r>
            <a:br>
              <a:rPr lang="en-US" altLang="zh-CN" b="1" dirty="0"/>
            </a:br>
            <a:endParaRPr lang="zh-CN" altLang="en-US" b="1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0BEDFDE-CD88-BA3D-C2C1-6D07516ACD8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CN" b="1" dirty="0"/>
              <a:t>Yilong Xu</a:t>
            </a:r>
          </a:p>
          <a:p>
            <a:endParaRPr lang="en-US" altLang="zh-CN" b="1" dirty="0"/>
          </a:p>
          <a:p>
            <a:r>
              <a:rPr lang="en-US" altLang="zh-CN" b="1" dirty="0">
                <a:hlinkClick r:id="rId2"/>
              </a:rPr>
              <a:t>https://github.com/yilongxu-usc/dsci510_fall2025_final_project</a:t>
            </a:r>
            <a:endParaRPr lang="zh-CN" altLang="en-US" b="1" dirty="0"/>
          </a:p>
        </p:txBody>
      </p:sp>
    </p:spTree>
    <p:extLst>
      <p:ext uri="{BB962C8B-B14F-4D97-AF65-F5344CB8AC3E}">
        <p14:creationId xmlns:p14="http://schemas.microsoft.com/office/powerpoint/2010/main" val="37045319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274090B-3E7E-3C81-C782-4C8CC2107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altLang="zh-CN" b="1" dirty="0"/>
              <a:t>Data Sources</a:t>
            </a:r>
            <a:br>
              <a:rPr lang="en-US" altLang="zh-CN" b="1" dirty="0"/>
            </a:br>
            <a:r>
              <a:rPr lang="en-US" altLang="zh-CN" sz="1800" b="1" dirty="0"/>
              <a:t>Date Range: 2015/01/01- 2024-12-31</a:t>
            </a:r>
            <a:endParaRPr lang="zh-CN" altLang="en-US" sz="1800" b="1" dirty="0"/>
          </a:p>
        </p:txBody>
      </p:sp>
      <p:graphicFrame>
        <p:nvGraphicFramePr>
          <p:cNvPr id="4" name="内容占位符 3">
            <a:extLst>
              <a:ext uri="{FF2B5EF4-FFF2-40B4-BE49-F238E27FC236}">
                <a16:creationId xmlns:a16="http://schemas.microsoft.com/office/drawing/2014/main" id="{F2D77B2F-AD72-FC33-61CE-378DB5849D1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25152846"/>
              </p:ext>
            </p:extLst>
          </p:nvPr>
        </p:nvGraphicFramePr>
        <p:xfrm>
          <a:off x="838200" y="1910292"/>
          <a:ext cx="10515600" cy="46537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3885312875"/>
                    </a:ext>
                  </a:extLst>
                </a:gridCol>
                <a:gridCol w="3876169">
                  <a:extLst>
                    <a:ext uri="{9D8B030D-6E8A-4147-A177-3AD203B41FA5}">
                      <a16:colId xmlns:a16="http://schemas.microsoft.com/office/drawing/2014/main" val="291762609"/>
                    </a:ext>
                  </a:extLst>
                </a:gridCol>
                <a:gridCol w="1134319">
                  <a:extLst>
                    <a:ext uri="{9D8B030D-6E8A-4147-A177-3AD203B41FA5}">
                      <a16:colId xmlns:a16="http://schemas.microsoft.com/office/drawing/2014/main" val="742852768"/>
                    </a:ext>
                  </a:extLst>
                </a:gridCol>
                <a:gridCol w="1851949">
                  <a:extLst>
                    <a:ext uri="{9D8B030D-6E8A-4147-A177-3AD203B41FA5}">
                      <a16:colId xmlns:a16="http://schemas.microsoft.com/office/drawing/2014/main" val="691318047"/>
                    </a:ext>
                  </a:extLst>
                </a:gridCol>
                <a:gridCol w="1550043">
                  <a:extLst>
                    <a:ext uri="{9D8B030D-6E8A-4147-A177-3AD203B41FA5}">
                      <a16:colId xmlns:a16="http://schemas.microsoft.com/office/drawing/2014/main" val="2886645305"/>
                    </a:ext>
                  </a:extLst>
                </a:gridCol>
              </a:tblGrid>
              <a:tr h="681278">
                <a:tc>
                  <a:txBody>
                    <a:bodyPr/>
                    <a:lstStyle/>
                    <a:p>
                      <a:r>
                        <a:rPr lang="en-US" altLang="zh-CN" sz="1400" b="1" dirty="0"/>
                        <a:t>Dataset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b="1" dirty="0"/>
                        <a:t>Description</a:t>
                      </a:r>
                      <a:endParaRPr lang="zh-CN" alt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b="1" dirty="0"/>
                        <a:t>Type</a:t>
                      </a:r>
                      <a:endParaRPr lang="zh-CN" alt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b="1" dirty="0"/>
                        <a:t>Format</a:t>
                      </a:r>
                      <a:endParaRPr lang="zh-CN" alt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b="1" dirty="0"/>
                        <a:t>Data Size</a:t>
                      </a:r>
                      <a:endParaRPr lang="zh-CN" altLang="en-US" sz="14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7451797"/>
                  </a:ext>
                </a:extLst>
              </a:tr>
              <a:tr h="1300435">
                <a:tc>
                  <a:txBody>
                    <a:bodyPr/>
                    <a:lstStyle/>
                    <a:p>
                      <a:r>
                        <a:rPr lang="en-US" altLang="zh-CN" sz="1400" b="1" dirty="0"/>
                        <a:t>Corn Yield Data,</a:t>
                      </a:r>
                    </a:p>
                    <a:p>
                      <a:r>
                        <a:rPr lang="en-US" altLang="zh-CN" sz="1400" b="1" dirty="0"/>
                        <a:t>USDA NASS</a:t>
                      </a:r>
                      <a:endParaRPr lang="zh-CN" alt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altLang="zh-CN" sz="1400" b="1" dirty="0"/>
                        <a:t>Provides annual corn yield (bushels per acre) for U.S. states.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altLang="zh-CN" sz="1400" b="1" dirty="0"/>
                        <a:t>Shows how corn productivity varies geographically and how yields change over time</a:t>
                      </a:r>
                      <a:endParaRPr lang="zh-CN" altLang="en-US" sz="1400" b="1" dirty="0"/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r>
                        <a:rPr lang="en-US" altLang="zh-CN" sz="1400" b="1" dirty="0"/>
                        <a:t>API 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b="1" dirty="0"/>
                        <a:t>HTML response &gt; </a:t>
                      </a:r>
                      <a:r>
                        <a:rPr lang="en-US" altLang="zh-CN" sz="1400" b="1" dirty="0" err="1"/>
                        <a:t>json</a:t>
                      </a:r>
                      <a:r>
                        <a:rPr lang="en-US" altLang="zh-CN" sz="1400" b="1" dirty="0"/>
                        <a:t> &gt; CSV</a:t>
                      </a:r>
                      <a:endParaRPr lang="zh-CN" alt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b="1" dirty="0"/>
                        <a:t>2400 rows,</a:t>
                      </a:r>
                    </a:p>
                    <a:p>
                      <a:r>
                        <a:rPr lang="en-US" altLang="zh-CN" sz="1400" b="1" dirty="0"/>
                        <a:t>3 columns</a:t>
                      </a:r>
                      <a:endParaRPr lang="zh-CN" altLang="en-US" sz="14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100628"/>
                  </a:ext>
                </a:extLst>
              </a:tr>
              <a:tr h="1300435">
                <a:tc>
                  <a:txBody>
                    <a:bodyPr/>
                    <a:lstStyle/>
                    <a:p>
                      <a:r>
                        <a:rPr lang="en-US" altLang="zh-CN" sz="1400" b="1" dirty="0"/>
                        <a:t>Wheat Yield Data,</a:t>
                      </a:r>
                    </a:p>
                    <a:p>
                      <a:r>
                        <a:rPr lang="en-US" altLang="zh-CN" sz="1400" b="1" dirty="0"/>
                        <a:t>USDA NASS</a:t>
                      </a:r>
                      <a:endParaRPr lang="zh-CN" alt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altLang="zh-CN" sz="1400" b="1" dirty="0"/>
                        <a:t>Contains annual wheat yield statistics for U.S. states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altLang="zh-CN" sz="1400" b="1" dirty="0"/>
                        <a:t>Works together with corn yield data to provide two independent agricultural indicators</a:t>
                      </a:r>
                      <a:endParaRPr lang="zh-CN" altLang="en-US" sz="1400" b="1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b="1" dirty="0"/>
                        <a:t>HTML response &gt; </a:t>
                      </a:r>
                      <a:r>
                        <a:rPr lang="en-US" altLang="zh-CN" sz="1400" b="1" dirty="0" err="1"/>
                        <a:t>json</a:t>
                      </a:r>
                      <a:r>
                        <a:rPr lang="en-US" altLang="zh-CN" sz="1400" b="1" dirty="0"/>
                        <a:t> &gt; CSV</a:t>
                      </a:r>
                      <a:endParaRPr lang="zh-CN" altLang="en-US" sz="1400" b="1" dirty="0"/>
                    </a:p>
                    <a:p>
                      <a:endParaRPr lang="zh-CN" alt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b="1" dirty="0"/>
                        <a:t>2600 rows,</a:t>
                      </a:r>
                    </a:p>
                    <a:p>
                      <a:r>
                        <a:rPr lang="en-US" altLang="zh-CN" sz="1400" b="1" dirty="0"/>
                        <a:t>3 columns</a:t>
                      </a:r>
                      <a:endParaRPr lang="zh-CN" altLang="en-US" sz="14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6520423"/>
                  </a:ext>
                </a:extLst>
              </a:tr>
              <a:tr h="1300435">
                <a:tc>
                  <a:txBody>
                    <a:bodyPr/>
                    <a:lstStyle/>
                    <a:p>
                      <a:r>
                        <a:rPr lang="en-US" altLang="zh-CN" sz="1400" b="1" dirty="0"/>
                        <a:t>Monthly temperature and </a:t>
                      </a:r>
                      <a:r>
                        <a:rPr lang="en-US" altLang="zh-CN" sz="1400" b="1" dirty="0" err="1"/>
                        <a:t>precipitaion</a:t>
                      </a:r>
                      <a:endParaRPr lang="zh-CN" alt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altLang="zh-CN" sz="1400" b="1" dirty="0"/>
                        <a:t>Provides monthly average temperature (TAVG) and total precipitation (PRCP) for multiple U.S. climate stations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altLang="zh-CN" sz="1400" b="1" dirty="0"/>
                        <a:t>Used to compute annual climate metrics (mean temperature, accumulated precipitation) matched by state</a:t>
                      </a:r>
                      <a:endParaRPr lang="zh-CN" altLang="en-US" sz="1400" b="1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b="1" dirty="0"/>
                        <a:t>HTML response &gt; </a:t>
                      </a:r>
                      <a:r>
                        <a:rPr lang="en-US" altLang="zh-CN" sz="1400" b="1" dirty="0" err="1"/>
                        <a:t>json</a:t>
                      </a:r>
                      <a:r>
                        <a:rPr lang="en-US" altLang="zh-CN" sz="1400" b="1" dirty="0"/>
                        <a:t> &gt; CSV</a:t>
                      </a:r>
                      <a:endParaRPr lang="zh-CN" altLang="en-US" sz="1400" b="1" dirty="0"/>
                    </a:p>
                    <a:p>
                      <a:endParaRPr lang="zh-CN" alt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b="1" dirty="0"/>
                        <a:t>950 rows, </a:t>
                      </a:r>
                    </a:p>
                    <a:p>
                      <a:r>
                        <a:rPr lang="en-US" altLang="zh-CN" sz="1400" b="1" dirty="0"/>
                        <a:t>7 columns</a:t>
                      </a:r>
                      <a:endParaRPr lang="zh-CN" altLang="en-US" sz="14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45167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100433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8" name="Rectangle 57">
            <a:extLst>
              <a:ext uri="{FF2B5EF4-FFF2-40B4-BE49-F238E27FC236}">
                <a16:creationId xmlns:a16="http://schemas.microsoft.com/office/drawing/2014/main" id="{84ECDE7A-6944-466D-8FFE-149A29BA6B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内容占位符 4" descr="图表, 折线图&#10;&#10;AI 生成的内容可能不正确。">
            <a:extLst>
              <a:ext uri="{FF2B5EF4-FFF2-40B4-BE49-F238E27FC236}">
                <a16:creationId xmlns:a16="http://schemas.microsoft.com/office/drawing/2014/main" id="{41BCAA0B-CF18-72AF-7680-90EB108065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6" r="1191" b="-3"/>
          <a:stretch>
            <a:fillRect/>
          </a:stretch>
        </p:blipFill>
        <p:spPr>
          <a:xfrm>
            <a:off x="-173620" y="1812979"/>
            <a:ext cx="7974957" cy="4902097"/>
          </a:xfrm>
          <a:prstGeom prst="rect">
            <a:avLst/>
          </a:prstGeom>
        </p:spPr>
      </p:pic>
      <p:sp useBgFill="1">
        <p:nvSpPr>
          <p:cNvPr id="60" name="Rectangle 59">
            <a:extLst>
              <a:ext uri="{FF2B5EF4-FFF2-40B4-BE49-F238E27FC236}">
                <a16:creationId xmlns:a16="http://schemas.microsoft.com/office/drawing/2014/main" id="{B3420082-9415-44EC-802E-C77D71D59C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55A52C45-1FCB-4636-A80F-2849B8226C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3" name="Content Placeholder 8">
            <a:extLst>
              <a:ext uri="{FF2B5EF4-FFF2-40B4-BE49-F238E27FC236}">
                <a16:creationId xmlns:a16="http://schemas.microsoft.com/office/drawing/2014/main" id="{C31F431C-1E00-2F65-483D-D47487BA3E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11453" y="2478024"/>
            <a:ext cx="3872243" cy="3694176"/>
          </a:xfrm>
        </p:spPr>
        <p:txBody>
          <a:bodyPr anchor="ctr">
            <a:normAutofit/>
          </a:bodyPr>
          <a:lstStyle/>
          <a:p>
            <a:r>
              <a:rPr lang="en-US" sz="1800" b="1" dirty="0"/>
              <a:t>All five states (CA, IL, NY, TX, UT) show mild warming trends, but not uniformly.</a:t>
            </a:r>
          </a:p>
          <a:p>
            <a:r>
              <a:rPr lang="en-US" sz="1800" b="1" dirty="0"/>
              <a:t>California and Texas have the warmest average temperatures (17–20°C range)</a:t>
            </a:r>
          </a:p>
          <a:p>
            <a:r>
              <a:rPr lang="en-US" altLang="zh-CN" sz="1800" b="1" dirty="0"/>
              <a:t>Illinois and New York stay cooler (9–14°C range)</a:t>
            </a:r>
          </a:p>
          <a:p>
            <a:r>
              <a:rPr lang="en-US" sz="1800" b="1" dirty="0"/>
              <a:t>Utah shows the largest year-to-year fluctuation, indicating higher climate variability</a:t>
            </a: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DC6C6A38-E479-B4A3-0F07-8FF380F739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en-US" altLang="zh-CN" sz="3600" b="1" dirty="0"/>
              <a:t>Temperature Trends Across States (2015–2024)</a:t>
            </a:r>
            <a:endParaRPr lang="zh-CN" altLang="en-US" sz="3600" b="1" dirty="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768EB4DD-3704-43AD-92B3-C4E0C6EA92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70799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278803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84ECDE7A-6944-466D-8FFE-149A29BA6B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图片 6" descr="图表, 折线图&#10;&#10;AI 生成的内容可能不正确。">
            <a:extLst>
              <a:ext uri="{FF2B5EF4-FFF2-40B4-BE49-F238E27FC236}">
                <a16:creationId xmlns:a16="http://schemas.microsoft.com/office/drawing/2014/main" id="{317CD92A-998D-AE7B-1926-EB6636096F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89" r="-3" b="-3"/>
          <a:stretch>
            <a:fillRect/>
          </a:stretch>
        </p:blipFill>
        <p:spPr>
          <a:xfrm>
            <a:off x="0" y="1863852"/>
            <a:ext cx="8008181" cy="4922520"/>
          </a:xfrm>
          <a:prstGeom prst="rect">
            <a:avLst/>
          </a:prstGeom>
        </p:spPr>
      </p:pic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B3420082-9415-44EC-802E-C77D71D59C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55A52C45-1FCB-4636-A80F-2849B8226C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5DEB2D97-5A62-9D26-E28C-5857674609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en-US" altLang="zh-CN" sz="3600" b="1" dirty="0"/>
              <a:t>Precipitation Trends (2015–2024)</a:t>
            </a:r>
            <a:endParaRPr lang="zh-CN" altLang="en-US" sz="3600" b="1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68EB4DD-3704-43AD-92B3-C4E0C6EA92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70799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6BC6B0D5-6EC7-F153-A3B9-CA51F9E69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11453" y="2478024"/>
            <a:ext cx="3872243" cy="3694176"/>
          </a:xfrm>
        </p:spPr>
        <p:txBody>
          <a:bodyPr anchor="ctr">
            <a:normAutofit lnSpcReduction="10000"/>
          </a:bodyPr>
          <a:lstStyle/>
          <a:p>
            <a:r>
              <a:rPr lang="en-US" altLang="zh-CN" sz="1400" b="1" dirty="0"/>
              <a:t>Precipitation levels differ widely across states. Texas (TX) and New York (NY) have the highest rainfall, while California (CA) and Utah (UT) experience consistently dry conditions</a:t>
            </a:r>
          </a:p>
          <a:p>
            <a:r>
              <a:rPr lang="en-US" altLang="zh-CN" sz="1400" b="1" dirty="0"/>
              <a:t>Texas shows the strongest volatility, swinging between very wet and very dry years, indicating strong influence from extremes such as droughts and heavy storms.</a:t>
            </a:r>
          </a:p>
          <a:p>
            <a:r>
              <a:rPr lang="en-US" altLang="zh-CN" sz="1400" b="1" dirty="0"/>
              <a:t>New York also fluctuates, but the changes are less dramatic compared to Texas</a:t>
            </a:r>
          </a:p>
          <a:p>
            <a:r>
              <a:rPr lang="en-US" altLang="zh-CN" sz="1400" b="1" dirty="0"/>
              <a:t>Illinois has moderate and relatively stable precipitation, without extreme annual swings</a:t>
            </a:r>
          </a:p>
          <a:p>
            <a:r>
              <a:rPr lang="en-US" altLang="zh-CN" sz="1400" b="1" dirty="0"/>
              <a:t>California and Utah remain low-precipitation states, with smaller overall variations, reflecting their arid climates</a:t>
            </a:r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39446155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9A9129A-C204-2C6D-59DA-B077B8E36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4" name="Rectangle 61">
            <a:extLst>
              <a:ext uri="{FF2B5EF4-FFF2-40B4-BE49-F238E27FC236}">
                <a16:creationId xmlns:a16="http://schemas.microsoft.com/office/drawing/2014/main" id="{E73BBE33-B533-4661-8A6A-6BD8D05EB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25E15CCD-1C8D-C225-D0E6-09876BD6B9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107" y="-471329"/>
            <a:ext cx="3357159" cy="278594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3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Effect of Temperature on Corn Yields (per state)</a:t>
            </a:r>
          </a:p>
        </p:txBody>
      </p:sp>
      <p:pic>
        <p:nvPicPr>
          <p:cNvPr id="21" name="图片 20" descr="图表, 散点图&#10;&#10;AI 生成的内容可能不正确。">
            <a:extLst>
              <a:ext uri="{FF2B5EF4-FFF2-40B4-BE49-F238E27FC236}">
                <a16:creationId xmlns:a16="http://schemas.microsoft.com/office/drawing/2014/main" id="{1AD60CE1-F63A-A8FC-A2CD-9E94EB912B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" r="3" b="3"/>
          <a:stretch>
            <a:fillRect/>
          </a:stretch>
        </p:blipFill>
        <p:spPr>
          <a:xfrm>
            <a:off x="-121889" y="3273012"/>
            <a:ext cx="4033265" cy="3025573"/>
          </a:xfrm>
          <a:prstGeom prst="rect">
            <a:avLst/>
          </a:prstGeom>
        </p:spPr>
      </p:pic>
      <p:pic>
        <p:nvPicPr>
          <p:cNvPr id="38" name="图片 37" descr="图表, 散点图&#10;&#10;AI 生成的内容可能不正确。">
            <a:extLst>
              <a:ext uri="{FF2B5EF4-FFF2-40B4-BE49-F238E27FC236}">
                <a16:creationId xmlns:a16="http://schemas.microsoft.com/office/drawing/2014/main" id="{6596321F-CAF6-AC06-62D8-3D4D8F22C8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53"/>
          <a:stretch>
            <a:fillRect/>
          </a:stretch>
        </p:blipFill>
        <p:spPr>
          <a:xfrm>
            <a:off x="7570565" y="10"/>
            <a:ext cx="4614002" cy="3337539"/>
          </a:xfrm>
          <a:prstGeom prst="rect">
            <a:avLst/>
          </a:prstGeom>
        </p:spPr>
      </p:pic>
      <p:pic>
        <p:nvPicPr>
          <p:cNvPr id="40" name="图片 39" descr="图表, 散点图&#10;&#10;AI 生成的内容可能不正确。">
            <a:extLst>
              <a:ext uri="{FF2B5EF4-FFF2-40B4-BE49-F238E27FC236}">
                <a16:creationId xmlns:a16="http://schemas.microsoft.com/office/drawing/2014/main" id="{64A15904-BF3B-715A-CD8C-8099B5D6557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10" r="3590" b="-3"/>
          <a:stretch>
            <a:fillRect/>
          </a:stretch>
        </p:blipFill>
        <p:spPr>
          <a:xfrm>
            <a:off x="3911376" y="3520452"/>
            <a:ext cx="3727405" cy="3025572"/>
          </a:xfrm>
          <a:prstGeom prst="rect">
            <a:avLst/>
          </a:prstGeom>
        </p:spPr>
      </p:pic>
      <p:pic>
        <p:nvPicPr>
          <p:cNvPr id="46" name="图片 45" descr="图表, 散点图&#10;&#10;AI 生成的内容可能不正确。">
            <a:extLst>
              <a:ext uri="{FF2B5EF4-FFF2-40B4-BE49-F238E27FC236}">
                <a16:creationId xmlns:a16="http://schemas.microsoft.com/office/drawing/2014/main" id="{23E159A7-91EC-2523-1836-EACF68AD3A6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230"/>
          <a:stretch>
            <a:fillRect/>
          </a:stretch>
        </p:blipFill>
        <p:spPr>
          <a:xfrm>
            <a:off x="7577998" y="3509255"/>
            <a:ext cx="4614002" cy="3348735"/>
          </a:xfrm>
          <a:prstGeom prst="rect">
            <a:avLst/>
          </a:prstGeom>
        </p:spPr>
      </p:pic>
      <p:pic>
        <p:nvPicPr>
          <p:cNvPr id="44" name="图片 43" descr="图表, 散点图&#10;&#10;AI 生成的内容可能不正确。">
            <a:extLst>
              <a:ext uri="{FF2B5EF4-FFF2-40B4-BE49-F238E27FC236}">
                <a16:creationId xmlns:a16="http://schemas.microsoft.com/office/drawing/2014/main" id="{36907C6E-105C-935F-47F0-C2915F2742D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02" r="-3" b="-3"/>
          <a:stretch>
            <a:fillRect/>
          </a:stretch>
        </p:blipFill>
        <p:spPr>
          <a:xfrm>
            <a:off x="3661191" y="125981"/>
            <a:ext cx="3916807" cy="3179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16360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A546EF-9691-7DB2-507A-5E22CBE3D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201C88F9-E440-45DE-A776-9609EB590B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图片 9" descr="图表, 散点图&#10;&#10;AI 生成的内容可能不正确。">
            <a:extLst>
              <a:ext uri="{FF2B5EF4-FFF2-40B4-BE49-F238E27FC236}">
                <a16:creationId xmlns:a16="http://schemas.microsoft.com/office/drawing/2014/main" id="{BB07C03D-EEF1-E0E4-CC9F-767972B3DE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7455" y="29340"/>
            <a:ext cx="4069655" cy="3052240"/>
          </a:xfrm>
          <a:prstGeom prst="rect">
            <a:avLst/>
          </a:prstGeom>
        </p:spPr>
      </p:pic>
      <p:pic>
        <p:nvPicPr>
          <p:cNvPr id="12" name="图片 11" descr="图表, 散点图&#10;&#10;AI 生成的内容可能不正确。">
            <a:extLst>
              <a:ext uri="{FF2B5EF4-FFF2-40B4-BE49-F238E27FC236}">
                <a16:creationId xmlns:a16="http://schemas.microsoft.com/office/drawing/2014/main" id="{2E17481C-1D84-DD59-3C49-F37FA91476E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0543" y="3429000"/>
            <a:ext cx="3903628" cy="2927720"/>
          </a:xfrm>
          <a:prstGeom prst="rect">
            <a:avLst/>
          </a:prstGeom>
        </p:spPr>
      </p:pic>
      <p:pic>
        <p:nvPicPr>
          <p:cNvPr id="4" name="图片 3" descr="图表, 散点图&#10;&#10;AI 生成的内容可能不正确。">
            <a:extLst>
              <a:ext uri="{FF2B5EF4-FFF2-40B4-BE49-F238E27FC236}">
                <a16:creationId xmlns:a16="http://schemas.microsoft.com/office/drawing/2014/main" id="{DC0F2A4D-25E7-E60B-387B-2739EB7CEC8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221" y="3107868"/>
            <a:ext cx="4331806" cy="3248852"/>
          </a:xfrm>
          <a:prstGeom prst="rect">
            <a:avLst/>
          </a:prstGeom>
        </p:spPr>
      </p:pic>
      <p:pic>
        <p:nvPicPr>
          <p:cNvPr id="6" name="图片 5" descr="图表, 散点图&#10;&#10;AI 生成的内容可能不正确。">
            <a:extLst>
              <a:ext uri="{FF2B5EF4-FFF2-40B4-BE49-F238E27FC236}">
                <a16:creationId xmlns:a16="http://schemas.microsoft.com/office/drawing/2014/main" id="{56A51388-6AE5-95A7-C7D8-9F7B789855C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88307" y="0"/>
            <a:ext cx="4203693" cy="3152768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832163C9-FE7B-F1EA-D514-CD8016A2C1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" y="-633428"/>
            <a:ext cx="3936557" cy="334426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3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Effect of Temperature on Wheat Yields (per state)</a:t>
            </a:r>
          </a:p>
        </p:txBody>
      </p:sp>
      <p:pic>
        <p:nvPicPr>
          <p:cNvPr id="8" name="图片 7" descr="图表, 散点图&#10;&#10;AI 生成的内容可能不正确。">
            <a:extLst>
              <a:ext uri="{FF2B5EF4-FFF2-40B4-BE49-F238E27FC236}">
                <a16:creationId xmlns:a16="http://schemas.microsoft.com/office/drawing/2014/main" id="{5348FACD-0B79-38D1-A451-F5965E7C967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9535" y="3152768"/>
            <a:ext cx="4271938" cy="3203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59189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DF47F1-CDC3-EF4F-F09A-CB34EF12F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E73BBE33-B533-4661-8A6A-6BD8D05EB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8E4EEB18-C2AD-7E42-CB51-2F344EB87A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399" y="-336311"/>
            <a:ext cx="3357159" cy="278594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3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Effect of Precipitation on Corn Yields (per state)</a:t>
            </a:r>
          </a:p>
        </p:txBody>
      </p:sp>
      <p:pic>
        <p:nvPicPr>
          <p:cNvPr id="5" name="图片 4" descr="图表, 散点图&#10;&#10;AI 生成的内容可能不正确。">
            <a:extLst>
              <a:ext uri="{FF2B5EF4-FFF2-40B4-BE49-F238E27FC236}">
                <a16:creationId xmlns:a16="http://schemas.microsoft.com/office/drawing/2014/main" id="{ADBEC60C-319C-5F6F-3518-9CDC4DC425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" r="3" b="3"/>
          <a:stretch>
            <a:fillRect/>
          </a:stretch>
        </p:blipFill>
        <p:spPr>
          <a:xfrm>
            <a:off x="34399" y="3260903"/>
            <a:ext cx="3946949" cy="3093324"/>
          </a:xfrm>
          <a:prstGeom prst="rect">
            <a:avLst/>
          </a:prstGeom>
        </p:spPr>
      </p:pic>
      <p:pic>
        <p:nvPicPr>
          <p:cNvPr id="9" name="图片 8" descr="图表, 散点图&#10;&#10;AI 生成的内容可能不正确。">
            <a:extLst>
              <a:ext uri="{FF2B5EF4-FFF2-40B4-BE49-F238E27FC236}">
                <a16:creationId xmlns:a16="http://schemas.microsoft.com/office/drawing/2014/main" id="{4AB0C567-3439-F609-F862-5692FC9F35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53"/>
          <a:stretch>
            <a:fillRect/>
          </a:stretch>
        </p:blipFill>
        <p:spPr>
          <a:xfrm>
            <a:off x="7570565" y="10"/>
            <a:ext cx="4614002" cy="3337539"/>
          </a:xfrm>
          <a:prstGeom prst="rect">
            <a:avLst/>
          </a:prstGeom>
        </p:spPr>
      </p:pic>
      <p:pic>
        <p:nvPicPr>
          <p:cNvPr id="15" name="图片 14" descr="图表, 散点图&#10;&#10;AI 生成的内容可能不正确。">
            <a:extLst>
              <a:ext uri="{FF2B5EF4-FFF2-40B4-BE49-F238E27FC236}">
                <a16:creationId xmlns:a16="http://schemas.microsoft.com/office/drawing/2014/main" id="{4C73AEB3-8276-133D-A7AA-2B15A267789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230"/>
          <a:stretch>
            <a:fillRect/>
          </a:stretch>
        </p:blipFill>
        <p:spPr>
          <a:xfrm>
            <a:off x="3231484" y="0"/>
            <a:ext cx="4614002" cy="3348735"/>
          </a:xfrm>
          <a:prstGeom prst="rect">
            <a:avLst/>
          </a:prstGeom>
        </p:spPr>
      </p:pic>
      <p:pic>
        <p:nvPicPr>
          <p:cNvPr id="20" name="图片 19" descr="图表, 散点图&#10;&#10;AI 生成的内容可能不正确。">
            <a:extLst>
              <a:ext uri="{FF2B5EF4-FFF2-40B4-BE49-F238E27FC236}">
                <a16:creationId xmlns:a16="http://schemas.microsoft.com/office/drawing/2014/main" id="{3DDEB4AA-0FE6-AC75-0BA0-3A8B6ADE26B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6219" y="3284038"/>
            <a:ext cx="4062740" cy="3047055"/>
          </a:xfrm>
          <a:prstGeom prst="rect">
            <a:avLst/>
          </a:prstGeom>
        </p:spPr>
      </p:pic>
      <p:pic>
        <p:nvPicPr>
          <p:cNvPr id="22" name="图片 21" descr="图表, 散点图&#10;&#10;AI 生成的内容可能不正确。">
            <a:extLst>
              <a:ext uri="{FF2B5EF4-FFF2-40B4-BE49-F238E27FC236}">
                <a16:creationId xmlns:a16="http://schemas.microsoft.com/office/drawing/2014/main" id="{F0EF470C-8A40-A347-5333-87CC8FE6A55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46869" y="3194298"/>
            <a:ext cx="4444274" cy="3333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85699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67E35-CAC4-7561-97E7-2FADE85FD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65C276-7A33-FBED-8644-4B8E886CB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862" y="-385473"/>
            <a:ext cx="3357159" cy="2785947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US" altLang="zh-CN" sz="40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Effect of Precipitation on Wheat Yields (per state)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425EDE18-3071-C342-CB9C-BFC575A5A9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52" r="2152"/>
          <a:stretch/>
        </p:blipFill>
        <p:spPr>
          <a:xfrm>
            <a:off x="34399" y="3260903"/>
            <a:ext cx="3946949" cy="3093324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FC30A873-0D69-3B81-0B8B-BF379377DD6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7" b="1777"/>
          <a:stretch/>
        </p:blipFill>
        <p:spPr>
          <a:xfrm>
            <a:off x="7570565" y="10"/>
            <a:ext cx="4614002" cy="3337539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83E3D78E-41F0-892B-AB26-778EB208838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15" b="1615"/>
          <a:stretch/>
        </p:blipFill>
        <p:spPr>
          <a:xfrm>
            <a:off x="3231484" y="0"/>
            <a:ext cx="4614002" cy="3348735"/>
          </a:xfrm>
          <a:prstGeom prst="rect">
            <a:avLst/>
          </a:prstGeom>
        </p:spPr>
      </p:pic>
      <p:pic>
        <p:nvPicPr>
          <p:cNvPr id="20" name="图片 19">
            <a:extLst>
              <a:ext uri="{FF2B5EF4-FFF2-40B4-BE49-F238E27FC236}">
                <a16:creationId xmlns:a16="http://schemas.microsoft.com/office/drawing/2014/main" id="{0D739B62-96E3-FC33-C16F-C67D90B1D3E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16219" y="3284038"/>
            <a:ext cx="4062740" cy="3047055"/>
          </a:xfrm>
          <a:prstGeom prst="rect">
            <a:avLst/>
          </a:prstGeom>
        </p:spPr>
      </p:pic>
      <p:pic>
        <p:nvPicPr>
          <p:cNvPr id="22" name="图片 21">
            <a:extLst>
              <a:ext uri="{FF2B5EF4-FFF2-40B4-BE49-F238E27FC236}">
                <a16:creationId xmlns:a16="http://schemas.microsoft.com/office/drawing/2014/main" id="{E52ABF4F-57D5-2F9E-31B6-64B8E3E8B34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746869" y="3194298"/>
            <a:ext cx="4444274" cy="3333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4815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0B9EE3F3-89B7-43C3-8651-C4C968309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45DECD4C-8063-7F7D-DB29-CA97D4C927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80" y="991443"/>
            <a:ext cx="4443154" cy="1087819"/>
          </a:xfrm>
        </p:spPr>
        <p:txBody>
          <a:bodyPr anchor="b">
            <a:normAutofit/>
          </a:bodyPr>
          <a:lstStyle/>
          <a:p>
            <a:r>
              <a:rPr lang="en-US" altLang="zh-CN" sz="3400" b="1" dirty="0"/>
              <a:t>Heatmap</a:t>
            </a:r>
            <a:endParaRPr lang="zh-CN" altLang="en-US" sz="3400" b="1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3AE4636-AEEC-45D6-84D4-7AC2DA48EC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49223" y="387939"/>
            <a:ext cx="73152" cy="548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D9CE0F4-2EB2-4F1F-8AAC-DB3571D9FE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1480" y="2285541"/>
            <a:ext cx="438912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C99AF29-964C-5F82-5668-9B87F5571F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80" y="2684095"/>
            <a:ext cx="4443154" cy="3492868"/>
          </a:xfrm>
        </p:spPr>
        <p:txBody>
          <a:bodyPr>
            <a:normAutofit fontScale="85000" lnSpcReduction="10000"/>
          </a:bodyPr>
          <a:lstStyle/>
          <a:p>
            <a:r>
              <a:rPr lang="en-US" sz="1800" b="1" dirty="0"/>
              <a:t>Higher temperatures tend to be associated with slightly lower crop yields across states. This is consistent with heat-stress effects on both crops, especially wheat.</a:t>
            </a:r>
          </a:p>
          <a:p>
            <a:r>
              <a:rPr lang="en-US" altLang="zh-CN" sz="1800" b="1" dirty="0"/>
              <a:t>Precipitation does not show a strong or consistent relationship with yields.</a:t>
            </a:r>
          </a:p>
          <a:p>
            <a:r>
              <a:rPr lang="en-US" altLang="zh-CN" sz="1800" b="1" dirty="0"/>
              <a:t>States with good conditions for one crop tend to have good conditions for the other.</a:t>
            </a:r>
          </a:p>
          <a:p>
            <a:r>
              <a:rPr lang="en-US" altLang="zh-CN" sz="1800" b="1" dirty="0"/>
              <a:t>Warmer years are slightly drier, but the relationship is weak and varies across states</a:t>
            </a:r>
          </a:p>
          <a:p>
            <a:r>
              <a:rPr lang="en-US" altLang="zh-CN" sz="1800" b="1" dirty="0"/>
              <a:t>Temperature is a more influential factor than precipitation for both crops, but neither variable alone is a strong predictor of yield — indicating complex interactions behind crop performance</a:t>
            </a:r>
            <a:endParaRPr lang="en-US" sz="1800" b="1" dirty="0"/>
          </a:p>
          <a:p>
            <a:endParaRPr lang="en-US" sz="1800" b="1" dirty="0"/>
          </a:p>
        </p:txBody>
      </p:sp>
      <p:pic>
        <p:nvPicPr>
          <p:cNvPr id="5" name="内容占位符 4" descr="图表, 树状图&#10;&#10;AI 生成的内容可能不正确。">
            <a:extLst>
              <a:ext uri="{FF2B5EF4-FFF2-40B4-BE49-F238E27FC236}">
                <a16:creationId xmlns:a16="http://schemas.microsoft.com/office/drawing/2014/main" id="{F59369AC-94C8-E8A1-3263-4FCF11ED56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1352" y="566839"/>
            <a:ext cx="6903210" cy="5919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79600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F42912-9D23-7A12-F743-CDE7BF7732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115719BB-48A7-4AF4-BB91-DC82E0DF72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7" name="Freeform: Shape 26">
            <a:extLst>
              <a:ext uri="{FF2B5EF4-FFF2-40B4-BE49-F238E27FC236}">
                <a16:creationId xmlns:a16="http://schemas.microsoft.com/office/drawing/2014/main" id="{10973A55-5440-4A99-B526-B5812E4627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6096002" cy="6858000"/>
          </a:xfrm>
          <a:custGeom>
            <a:avLst/>
            <a:gdLst>
              <a:gd name="connsiteX0" fmla="*/ 0 w 6096002"/>
              <a:gd name="connsiteY0" fmla="*/ 0 h 6858000"/>
              <a:gd name="connsiteX1" fmla="*/ 4885967 w 6096002"/>
              <a:gd name="connsiteY1" fmla="*/ 0 h 6858000"/>
              <a:gd name="connsiteX2" fmla="*/ 4946007 w 6096002"/>
              <a:gd name="connsiteY2" fmla="*/ 69271 h 6858000"/>
              <a:gd name="connsiteX3" fmla="*/ 6096002 w 6096002"/>
              <a:gd name="connsiteY3" fmla="*/ 3429000 h 6858000"/>
              <a:gd name="connsiteX4" fmla="*/ 4946007 w 6096002"/>
              <a:gd name="connsiteY4" fmla="*/ 6788730 h 6858000"/>
              <a:gd name="connsiteX5" fmla="*/ 4885967 w 6096002"/>
              <a:gd name="connsiteY5" fmla="*/ 6858000 h 6858000"/>
              <a:gd name="connsiteX6" fmla="*/ 0 w 6096002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96002" h="6858000">
                <a:moveTo>
                  <a:pt x="0" y="0"/>
                </a:moveTo>
                <a:lnTo>
                  <a:pt x="4885967" y="0"/>
                </a:lnTo>
                <a:lnTo>
                  <a:pt x="4946007" y="69271"/>
                </a:lnTo>
                <a:cubicBezTo>
                  <a:pt x="5656533" y="929100"/>
                  <a:pt x="6096002" y="2116944"/>
                  <a:pt x="6096002" y="3429000"/>
                </a:cubicBezTo>
                <a:cubicBezTo>
                  <a:pt x="6096002" y="4741056"/>
                  <a:pt x="5656533" y="5928900"/>
                  <a:pt x="4946007" y="6788730"/>
                </a:cubicBezTo>
                <a:lnTo>
                  <a:pt x="4885967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9" name="Freeform: Shape 28">
            <a:extLst>
              <a:ext uri="{FF2B5EF4-FFF2-40B4-BE49-F238E27FC236}">
                <a16:creationId xmlns:a16="http://schemas.microsoft.com/office/drawing/2014/main" id="{A9682493-588A-4D52-98F6-FBBD80C07E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85370" cy="6858000"/>
          </a:xfrm>
          <a:custGeom>
            <a:avLst/>
            <a:gdLst>
              <a:gd name="connsiteX0" fmla="*/ 0 w 6085370"/>
              <a:gd name="connsiteY0" fmla="*/ 0 h 6858000"/>
              <a:gd name="connsiteX1" fmla="*/ 4875335 w 6085370"/>
              <a:gd name="connsiteY1" fmla="*/ 0 h 6858000"/>
              <a:gd name="connsiteX2" fmla="*/ 4935375 w 6085370"/>
              <a:gd name="connsiteY2" fmla="*/ 69271 h 6858000"/>
              <a:gd name="connsiteX3" fmla="*/ 6085370 w 6085370"/>
              <a:gd name="connsiteY3" fmla="*/ 3429000 h 6858000"/>
              <a:gd name="connsiteX4" fmla="*/ 4935375 w 6085370"/>
              <a:gd name="connsiteY4" fmla="*/ 6788730 h 6858000"/>
              <a:gd name="connsiteX5" fmla="*/ 4875335 w 6085370"/>
              <a:gd name="connsiteY5" fmla="*/ 6858000 h 6858000"/>
              <a:gd name="connsiteX6" fmla="*/ 0 w 6085370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85370" h="6858000">
                <a:moveTo>
                  <a:pt x="0" y="0"/>
                </a:moveTo>
                <a:lnTo>
                  <a:pt x="4875335" y="0"/>
                </a:lnTo>
                <a:lnTo>
                  <a:pt x="4935375" y="69271"/>
                </a:lnTo>
                <a:cubicBezTo>
                  <a:pt x="5645901" y="929100"/>
                  <a:pt x="6085370" y="2116944"/>
                  <a:pt x="6085370" y="3429000"/>
                </a:cubicBezTo>
                <a:cubicBezTo>
                  <a:pt x="6085370" y="4741056"/>
                  <a:pt x="5645901" y="5928900"/>
                  <a:pt x="4935375" y="6788730"/>
                </a:cubicBezTo>
                <a:lnTo>
                  <a:pt x="4875335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594546AE-DE4A-3F2E-D453-56C3895CD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913" y="859536"/>
            <a:ext cx="4832802" cy="1170432"/>
          </a:xfrm>
        </p:spPr>
        <p:txBody>
          <a:bodyPr anchor="b">
            <a:normAutofit/>
          </a:bodyPr>
          <a:lstStyle/>
          <a:p>
            <a:r>
              <a:rPr lang="en-US" altLang="zh-CN" sz="3400" b="1" dirty="0"/>
              <a:t>Challenges</a:t>
            </a:r>
            <a:endParaRPr lang="zh-CN" altLang="en-US" sz="3400" b="1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BEC5A7A-ADE4-48D9-B89C-2BA1C9110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03236" y="363389"/>
            <a:ext cx="73152" cy="548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2095FCE-EF05-4443-B97A-85DEE3A5CA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5492" y="2185062"/>
            <a:ext cx="493776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B265493A-D8BB-4358-DFAA-1802ED5671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912" y="2512611"/>
            <a:ext cx="4832803" cy="3664351"/>
          </a:xfrm>
        </p:spPr>
        <p:txBody>
          <a:bodyPr>
            <a:normAutofit/>
          </a:bodyPr>
          <a:lstStyle/>
          <a:p>
            <a:r>
              <a:rPr lang="en-US" altLang="zh-CN" sz="1800" b="1" dirty="0"/>
              <a:t>Getting reliable climate data from the NOAA API</a:t>
            </a:r>
          </a:p>
          <a:p>
            <a:r>
              <a:rPr lang="en-US" altLang="zh-CN" sz="1800" b="1" dirty="0"/>
              <a:t>Frequent 400 (Bad Request) Errors</a:t>
            </a:r>
          </a:p>
          <a:p>
            <a:r>
              <a:rPr lang="en-US" altLang="zh-CN" sz="1800" b="1" dirty="0"/>
              <a:t>NOAA API Limitations Not Documented Clearly</a:t>
            </a:r>
          </a:p>
          <a:p>
            <a:endParaRPr lang="en-US" sz="1800" b="1" dirty="0"/>
          </a:p>
          <a:p>
            <a:r>
              <a:rPr lang="en-US" sz="1800" b="1" dirty="0"/>
              <a:t>Instead of trying to download all climate data at once, I rewrote the function, so it requests each station individually, catching failures without stopping the whole program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A41FD397-F4F2-AC3F-CA03-63CD13FF67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6593" y="4190999"/>
            <a:ext cx="5138928" cy="2312517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7413FA68-EB4E-D165-4FE8-D806EBC4B49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5049132" y="1393457"/>
            <a:ext cx="6703955" cy="1583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52281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A0C16-ADFE-B9F5-5AB0-7628EF5D5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77AA7A-A328-D169-8FCB-8C5C60B88F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312066"/>
            <a:ext cx="9144000" cy="2387600"/>
          </a:xfrm>
        </p:spPr>
        <p:txBody>
          <a:bodyPr>
            <a:normAutofit/>
          </a:bodyPr>
          <a:lstStyle/>
          <a:p>
            <a:r>
              <a:rPr lang="en-US" altLang="zh-CN" b="1" dirty="0"/>
              <a:t>Thank you &amp; Questions</a:t>
            </a:r>
            <a:br>
              <a:rPr lang="en-US" altLang="zh-CN" b="1" dirty="0"/>
            </a:br>
            <a:endParaRPr lang="zh-CN" altLang="en-US" b="1" dirty="0"/>
          </a:p>
        </p:txBody>
      </p:sp>
    </p:spTree>
    <p:extLst>
      <p:ext uri="{BB962C8B-B14F-4D97-AF65-F5344CB8AC3E}">
        <p14:creationId xmlns:p14="http://schemas.microsoft.com/office/powerpoint/2010/main" val="33785532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340</TotalTime>
  <Words>695</Words>
  <Application>Microsoft Office PowerPoint</Application>
  <PresentationFormat>宽屏</PresentationFormat>
  <Paragraphs>73</Paragraphs>
  <Slides>11</Slides>
  <Notes>6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6" baseType="lpstr">
      <vt:lpstr>等线</vt:lpstr>
      <vt:lpstr>等线 Light</vt:lpstr>
      <vt:lpstr>Arial</vt:lpstr>
      <vt:lpstr>Calibri</vt:lpstr>
      <vt:lpstr>Office 主题​​</vt:lpstr>
      <vt:lpstr>How Climate Change Affects U.S. Corn and Wheat Yields </vt:lpstr>
      <vt:lpstr>Data Sources Date Range: 2015/01/01- 2024-12-31</vt:lpstr>
      <vt:lpstr>Temperature Trends Across States (2015–2024)</vt:lpstr>
      <vt:lpstr>Precipitation Trends (2015–2024)</vt:lpstr>
      <vt:lpstr>Effect of Temperature on Corn Yields (per state)</vt:lpstr>
      <vt:lpstr>Effect of Temperature on Wheat Yields (per state)</vt:lpstr>
      <vt:lpstr>Effect of Precipitation on Corn Yields (per state)</vt:lpstr>
      <vt:lpstr>Effect of Precipitation on Wheat Yields (per state)</vt:lpstr>
      <vt:lpstr>Heatmap</vt:lpstr>
      <vt:lpstr>Challenges</vt:lpstr>
      <vt:lpstr>Thank you &amp; Questions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yilong Xu</dc:creator>
  <cp:lastModifiedBy>yilong Xu</cp:lastModifiedBy>
  <cp:revision>10</cp:revision>
  <dcterms:created xsi:type="dcterms:W3CDTF">2025-11-25T08:17:38Z</dcterms:created>
  <dcterms:modified xsi:type="dcterms:W3CDTF">2025-11-25T14:05:48Z</dcterms:modified>
</cp:coreProperties>
</file>